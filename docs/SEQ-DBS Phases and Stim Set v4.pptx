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</p:sldIdLst>
  <p:sldSz cy="9144000" cx="164592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518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C9391AD-DBDE-4E96-B961-3F42B183056E}">
  <a:tblStyle styleId="{9C9391AD-DBDE-4E96-B961-3F42B183056E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952CA3B7-5AA8-497C-8C07-4611106DAFB3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5184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43215" y="685800"/>
            <a:ext cx="6172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cae39abe56_0_0:notes"/>
          <p:cNvSpPr/>
          <p:nvPr>
            <p:ph idx="2" type="sldImg"/>
          </p:nvPr>
        </p:nvSpPr>
        <p:spPr>
          <a:xfrm>
            <a:off x="343215" y="685800"/>
            <a:ext cx="6172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cae39abe5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c899d3adf8_0_0:notes"/>
          <p:cNvSpPr/>
          <p:nvPr>
            <p:ph idx="2" type="sldImg"/>
          </p:nvPr>
        </p:nvSpPr>
        <p:spPr>
          <a:xfrm>
            <a:off x="343215" y="685800"/>
            <a:ext cx="6172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c899d3adf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Randomization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-no consecutive stop trials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-training: do not repeat same syllable more than twice on consecutive trials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-testing: do not repeat same syllable on consecutive trials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-don’t start block with stop trial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Pause 2-3 min between blocks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561075" y="1323689"/>
            <a:ext cx="15337200" cy="364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561060" y="5038444"/>
            <a:ext cx="15337200" cy="140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15250424" y="8290163"/>
            <a:ext cx="987900" cy="69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561060" y="3823733"/>
            <a:ext cx="15337200" cy="149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15250424" y="8290163"/>
            <a:ext cx="987900" cy="69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561060" y="791156"/>
            <a:ext cx="15337200" cy="101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561060" y="2048844"/>
            <a:ext cx="15337200" cy="607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15250424" y="8290163"/>
            <a:ext cx="987900" cy="69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561060" y="791156"/>
            <a:ext cx="15337200" cy="101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561060" y="2048844"/>
            <a:ext cx="7200000" cy="607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8698320" y="2048844"/>
            <a:ext cx="7200000" cy="607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15250424" y="8290163"/>
            <a:ext cx="987900" cy="69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561060" y="791156"/>
            <a:ext cx="15337200" cy="101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15250424" y="8290163"/>
            <a:ext cx="987900" cy="69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561060" y="987733"/>
            <a:ext cx="5054400" cy="134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561060" y="2470400"/>
            <a:ext cx="5054400" cy="565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15250424" y="8290163"/>
            <a:ext cx="987900" cy="69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882450" y="800267"/>
            <a:ext cx="11462100" cy="727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15250424" y="8290163"/>
            <a:ext cx="987900" cy="69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8229600" y="-222"/>
            <a:ext cx="8229600" cy="9144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477900" y="2192311"/>
            <a:ext cx="7281300" cy="263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477900" y="4983244"/>
            <a:ext cx="7281300" cy="219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8891100" y="1287244"/>
            <a:ext cx="6906600" cy="656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15250424" y="8290163"/>
            <a:ext cx="987900" cy="69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561060" y="7521022"/>
            <a:ext cx="10797900" cy="107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15250424" y="8290163"/>
            <a:ext cx="987900" cy="69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561060" y="1966444"/>
            <a:ext cx="15337200" cy="349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561060" y="5603956"/>
            <a:ext cx="15337200" cy="231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15250424" y="8290163"/>
            <a:ext cx="987900" cy="69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15250424" y="8290163"/>
            <a:ext cx="987900" cy="69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561060" y="791156"/>
            <a:ext cx="15337200" cy="10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561060" y="2048844"/>
            <a:ext cx="15337200" cy="60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5250424" y="8290163"/>
            <a:ext cx="987900" cy="69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docs.google.com/presentation/u/0/d/1qzIkk7Cwux3ZJG68zwc9pLKAtBfSOMRU1tFDJWdC13g/edit" TargetMode="External"/><Relationship Id="rId4" Type="http://schemas.openxmlformats.org/officeDocument/2006/relationships/hyperlink" Target="https://docs.google.com/presentation/u/0/d/19mSb0nphe-IKLTJUlk6reENgQSVVB816s-paSGf2oeY/edit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body"/>
          </p:nvPr>
        </p:nvSpPr>
        <p:spPr>
          <a:xfrm>
            <a:off x="3091850" y="94025"/>
            <a:ext cx="10433400" cy="905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</a:rPr>
              <a:t>SEQ-DBS </a:t>
            </a:r>
            <a:r>
              <a:rPr lang="en" sz="2500">
                <a:solidFill>
                  <a:srgbClr val="000000"/>
                </a:solidFill>
              </a:rPr>
              <a:t>Experimental Phases</a:t>
            </a:r>
            <a:endParaRPr sz="25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000">
                <a:solidFill>
                  <a:srgbClr val="000000"/>
                </a:solidFill>
              </a:rPr>
              <a:t>NB: this version of the stimulus design was only used used on subjects run after 2021/11/20; subjects 1005, 1007, 1008 used </a:t>
            </a:r>
            <a:r>
              <a:rPr i="1" lang="en" sz="2000" u="sng">
                <a:solidFill>
                  <a:schemeClr val="hlink"/>
                </a:solidFill>
                <a:hlinkClick r:id="rId3"/>
              </a:rPr>
              <a:t>stim version 1</a:t>
            </a:r>
            <a:r>
              <a:rPr i="1" lang="en" sz="2000">
                <a:solidFill>
                  <a:srgbClr val="000000"/>
                </a:solidFill>
              </a:rPr>
              <a:t>; 1013 and pilot08 used </a:t>
            </a:r>
            <a:r>
              <a:rPr i="1" lang="en" sz="2000" u="sng">
                <a:solidFill>
                  <a:schemeClr val="hlink"/>
                </a:solidFill>
                <a:hlinkClick r:id="rId4"/>
              </a:rPr>
              <a:t>stim version 2</a:t>
            </a:r>
            <a:endParaRPr i="1" sz="2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</a:rPr>
              <a:t>Each </a:t>
            </a:r>
            <a:r>
              <a:rPr lang="en" sz="2000">
                <a:solidFill>
                  <a:srgbClr val="000000"/>
                </a:solidFill>
              </a:rPr>
              <a:t>subject</a:t>
            </a:r>
            <a:r>
              <a:rPr lang="en" sz="2000">
                <a:solidFill>
                  <a:srgbClr val="000000"/>
                </a:solidFill>
              </a:rPr>
              <a:t> will be assigned to a group from 1-7, which will determine which 1 out of the 7 non-native sets will be learned. The example in the following figure is of a subject assigned to group 3. All experimental epochs except </a:t>
            </a:r>
            <a:r>
              <a:rPr lang="en" sz="2000">
                <a:solidFill>
                  <a:srgbClr val="000000"/>
                </a:solidFill>
              </a:rPr>
              <a:t>Familiarization </a:t>
            </a:r>
            <a:r>
              <a:rPr lang="en" sz="2000">
                <a:solidFill>
                  <a:srgbClr val="000000"/>
                </a:solidFill>
              </a:rPr>
              <a:t>will be divided up into 5-minute blocks, each containing 48 trials. Trials within each 5-minute block will be presented in randomized order.  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</a:rPr>
              <a:t>Familiarization </a:t>
            </a:r>
            <a:r>
              <a:rPr lang="en" sz="2000">
                <a:solidFill>
                  <a:srgbClr val="000000"/>
                </a:solidFill>
              </a:rPr>
              <a:t>phase will be conducted </a:t>
            </a:r>
            <a:r>
              <a:rPr lang="en" sz="2000">
                <a:solidFill>
                  <a:srgbClr val="000000"/>
                </a:solidFill>
              </a:rPr>
              <a:t>(remotely) immediately before the Training 1 phase. This phase is a brief (2-minute) </a:t>
            </a:r>
            <a:r>
              <a:rPr lang="en" sz="2000">
                <a:solidFill>
                  <a:srgbClr val="000000"/>
                </a:solidFill>
              </a:rPr>
              <a:t>introduction</a:t>
            </a:r>
            <a:r>
              <a:rPr lang="en" sz="2000">
                <a:solidFill>
                  <a:srgbClr val="000000"/>
                </a:solidFill>
              </a:rPr>
              <a:t> to the task, to give the </a:t>
            </a:r>
            <a:r>
              <a:rPr lang="en" sz="2000">
                <a:solidFill>
                  <a:srgbClr val="000000"/>
                </a:solidFill>
              </a:rPr>
              <a:t>subject</a:t>
            </a:r>
            <a:r>
              <a:rPr lang="en" sz="2000">
                <a:solidFill>
                  <a:srgbClr val="000000"/>
                </a:solidFill>
              </a:rPr>
              <a:t> a minimal level of proficiency before beginning the Training 1 phase. Familiarization will contain the following stimuli, which are not repeated in any subsequent phase: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-1 repetition each of syllables from native set #F (these syllables are never used in Training or Testing)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</a:rPr>
              <a:t>-1 repetition each of syllables from non-native set #F (these syllables are never used in Training or Testing)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</a:rPr>
              <a:t>-4 STOP (native set #1) trials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</a:rPr>
              <a:t> 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</a:rPr>
              <a:t>Training 1</a:t>
            </a:r>
            <a:r>
              <a:rPr lang="en" sz="2000">
                <a:solidFill>
                  <a:srgbClr val="000000"/>
                </a:solidFill>
              </a:rPr>
              <a:t> phase [50 minutes</a:t>
            </a:r>
            <a:r>
              <a:rPr lang="en" sz="2000">
                <a:solidFill>
                  <a:srgbClr val="000000"/>
                </a:solidFill>
              </a:rPr>
              <a:t>, not including breaks</a:t>
            </a:r>
            <a:r>
              <a:rPr lang="en" sz="2000">
                <a:solidFill>
                  <a:srgbClr val="000000"/>
                </a:solidFill>
              </a:rPr>
              <a:t>] will be conducted remotely. It will consist of 10 blocks, with each block containing: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</a:rPr>
              <a:t>-1 repetition of each of the 12 syllables from native sets #2, #3, and #4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</a:rPr>
              <a:t>-12 </a:t>
            </a:r>
            <a:r>
              <a:rPr lang="en" sz="2000">
                <a:solidFill>
                  <a:srgbClr val="000000"/>
                </a:solidFill>
              </a:rPr>
              <a:t>repetitions of each of the 2 syllables from the non-native set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</a:rPr>
              <a:t>-12 STOP trials (4 native and 8 non-native learned)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</a:rPr>
              <a:t>Training 2</a:t>
            </a:r>
            <a:r>
              <a:rPr b="1" i="1" lang="en" sz="2000">
                <a:solidFill>
                  <a:srgbClr val="000000"/>
                </a:solidFill>
              </a:rPr>
              <a:t> </a:t>
            </a:r>
            <a:r>
              <a:rPr lang="en" sz="2000">
                <a:solidFill>
                  <a:srgbClr val="000000"/>
                </a:solidFill>
              </a:rPr>
              <a:t>phase [10 minutes] will be conducted in person, on the morning of the surgery. It will consist of 2 blocks, with each block containing: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</a:rPr>
              <a:t>-1 repetition each of 6 syllables from native learned sets #2, #3, #4 (first halves in block 1, second halves in block 2)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-1 repetition each of 6 syllables from native novel sets #5, #6, #7 (first halves in block 1, second halves in block 2)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-12 repetitions of each of the 2 syllables from the non-native set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-12 STOP trials (2 native novel, 2 native learned, and 8 non-native learned)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</a:rPr>
              <a:t>Testing</a:t>
            </a:r>
            <a:r>
              <a:rPr b="1" i="1" lang="en" sz="2000">
                <a:solidFill>
                  <a:srgbClr val="000000"/>
                </a:solidFill>
              </a:rPr>
              <a:t> </a:t>
            </a:r>
            <a:r>
              <a:rPr lang="en" sz="2000">
                <a:solidFill>
                  <a:srgbClr val="000000"/>
                </a:solidFill>
              </a:rPr>
              <a:t>phase [15 minutes] will be conducted during surgery. It will consist of 3 blocks, with each block containing: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</a:rPr>
              <a:t>-1 repetition of each of 12 syllables from native learned sets #1, #2, and #3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</a:rPr>
              <a:t>-1 repetition of each of 12 syllables from the 6 non-native novel sets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</a:rPr>
              <a:t>-6 repetitions of each of the 2 syllables from the non-native learned set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</a:rPr>
              <a:t>-12 STOP trials (4 native learned, 4 non-native learned, and 4 non-native novel)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9" name="Google Shape;59;p14"/>
          <p:cNvGraphicFramePr/>
          <p:nvPr/>
        </p:nvGraphicFramePr>
        <p:xfrm>
          <a:off x="14867290" y="162155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{9C9391AD-DBDE-4E96-B961-3F42B183056E}</a:tableStyleId>
              </a:tblPr>
              <a:tblGrid>
                <a:gridCol w="257150"/>
                <a:gridCol w="850325"/>
              </a:tblGrid>
              <a:tr h="1555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1500"/>
                        <a:t>1</a:t>
                      </a:r>
                      <a:endParaRPr b="1" i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1500"/>
                        <a:t>KPUB</a:t>
                      </a:r>
                      <a:endParaRPr b="1" i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1500"/>
                        <a:t>1</a:t>
                      </a:r>
                      <a:endParaRPr b="1" i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1500"/>
                        <a:t>VZUB</a:t>
                      </a:r>
                      <a:endParaRPr b="1" i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177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1" sz="3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1" sz="3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1500"/>
                        <a:t>2</a:t>
                      </a:r>
                      <a:endParaRPr b="1" i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1500"/>
                        <a:t>DGUB</a:t>
                      </a:r>
                      <a:endParaRPr b="1" i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1500"/>
                        <a:t>2</a:t>
                      </a:r>
                      <a:endParaRPr b="1" i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1500"/>
                        <a:t>KFUB</a:t>
                      </a:r>
                      <a:endParaRPr b="1" i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177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1" sz="3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1" sz="3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1500"/>
                        <a:t>3</a:t>
                      </a:r>
                      <a:endParaRPr b="1" i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FFF2CC"/>
                        </a:gs>
                        <a:gs pos="51000">
                          <a:srgbClr val="FFFAE9"/>
                        </a:gs>
                        <a:gs pos="100000">
                          <a:srgbClr val="D0E0E3"/>
                        </a:gs>
                      </a:gsLst>
                      <a:lin ang="18900732" scaled="0"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1500"/>
                        <a:t>PTUB</a:t>
                      </a:r>
                      <a:endParaRPr b="1" i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FFF2CC"/>
                        </a:gs>
                        <a:gs pos="51000">
                          <a:srgbClr val="FFFAE9"/>
                        </a:gs>
                        <a:gs pos="100000">
                          <a:srgbClr val="D0E0E3"/>
                        </a:gs>
                      </a:gsLst>
                      <a:lin ang="18900732" scaled="0"/>
                    </a:gradFill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1500"/>
                        <a:t>3</a:t>
                      </a:r>
                      <a:endParaRPr b="1" i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FFF2CC"/>
                        </a:gs>
                        <a:gs pos="51000">
                          <a:srgbClr val="FFFAE9"/>
                        </a:gs>
                        <a:gs pos="100000">
                          <a:srgbClr val="D0E0E3"/>
                        </a:gs>
                      </a:gsLst>
                      <a:lin ang="18900732" scaled="0"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1500"/>
                        <a:t>SHKUB</a:t>
                      </a:r>
                      <a:endParaRPr b="1" i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FFF2CC"/>
                        </a:gs>
                        <a:gs pos="51000">
                          <a:srgbClr val="FFFAE9"/>
                        </a:gs>
                        <a:gs pos="100000">
                          <a:srgbClr val="D0E0E3"/>
                        </a:gs>
                      </a:gsLst>
                      <a:lin ang="18900732" scaled="0"/>
                    </a:gradFill>
                  </a:tcPr>
                </a:tc>
              </a:tr>
              <a:tr h="177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1" sz="3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1" sz="3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1500"/>
                        <a:t>4</a:t>
                      </a:r>
                      <a:endParaRPr b="1" i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1500"/>
                        <a:t>PSHUB</a:t>
                      </a:r>
                      <a:endParaRPr b="1" i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1500"/>
                        <a:t>4</a:t>
                      </a:r>
                      <a:endParaRPr b="1" i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1500"/>
                        <a:t>ZLUB</a:t>
                      </a:r>
                      <a:endParaRPr b="1" i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177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1" sz="3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1" sz="3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1500"/>
                        <a:t>5</a:t>
                      </a:r>
                      <a:endParaRPr b="1" i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1500"/>
                        <a:t>GDUB</a:t>
                      </a:r>
                      <a:endParaRPr b="1" i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1500"/>
                        <a:t>5</a:t>
                      </a:r>
                      <a:endParaRPr b="1" i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1500"/>
                        <a:t>FPUB</a:t>
                      </a:r>
                      <a:endParaRPr b="1" i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1648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1" sz="3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1" sz="3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1500"/>
                        <a:t>6</a:t>
                      </a:r>
                      <a:endParaRPr b="1" i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1500"/>
                        <a:t>GVUB</a:t>
                      </a:r>
                      <a:endParaRPr b="1" i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1500"/>
                        <a:t>6</a:t>
                      </a:r>
                      <a:endParaRPr b="1" i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1500"/>
                        <a:t>FSHUB</a:t>
                      </a:r>
                      <a:endParaRPr b="1" i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1" sz="3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1" sz="3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1500"/>
                        <a:t>7</a:t>
                      </a:r>
                      <a:endParaRPr b="1" i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1500"/>
                        <a:t>SHFUB</a:t>
                      </a:r>
                      <a:endParaRPr b="1" i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1500"/>
                        <a:t>7</a:t>
                      </a:r>
                      <a:endParaRPr b="1" i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1500"/>
                        <a:t>PKUB</a:t>
                      </a:r>
                      <a:endParaRPr b="1" i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33925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1" sz="13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/>
                        <a:t>F</a:t>
                      </a:r>
                      <a:endParaRPr b="1" i="1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i="1" lang="en" sz="1500">
                          <a:solidFill>
                            <a:schemeClr val="dk1"/>
                          </a:solidFill>
                        </a:rPr>
                        <a:t>DLIG</a:t>
                      </a:r>
                      <a:endParaRPr b="1" i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i="1" lang="en">
                          <a:solidFill>
                            <a:schemeClr val="dk1"/>
                          </a:solidFill>
                        </a:rPr>
                        <a:t>F</a:t>
                      </a:r>
                      <a:endParaRPr b="1" i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1500"/>
                        <a:t>KFAT</a:t>
                      </a:r>
                      <a:endParaRPr b="1" i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i="1" lang="en">
                          <a:solidFill>
                            <a:schemeClr val="dk1"/>
                          </a:solidFill>
                        </a:rPr>
                        <a:t>F</a:t>
                      </a:r>
                      <a:endParaRPr b="1" i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1500"/>
                        <a:t>BDEK</a:t>
                      </a:r>
                      <a:endParaRPr b="1" i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i="1" lang="en">
                          <a:solidFill>
                            <a:schemeClr val="dk1"/>
                          </a:solidFill>
                        </a:rPr>
                        <a:t>F</a:t>
                      </a:r>
                      <a:endParaRPr b="1" i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1500"/>
                        <a:t>ZGUD</a:t>
                      </a:r>
                      <a:endParaRPr b="1" i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0" name="Google Shape;60;p14"/>
          <p:cNvGraphicFramePr/>
          <p:nvPr/>
        </p:nvGraphicFramePr>
        <p:xfrm>
          <a:off x="13175275" y="60737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{9C9391AD-DBDE-4E96-B961-3F42B183056E}</a:tableStyleId>
              </a:tblPr>
              <a:tblGrid>
                <a:gridCol w="262200"/>
                <a:gridCol w="780200"/>
              </a:tblGrid>
              <a:tr h="3074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F</a:t>
                      </a:r>
                      <a:endParaRPr b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BLID</a:t>
                      </a:r>
                      <a:endParaRPr b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3074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" sz="1500">
                          <a:solidFill>
                            <a:schemeClr val="dk1"/>
                          </a:solidFill>
                        </a:rPr>
                        <a:t>F</a:t>
                      </a:r>
                      <a:endParaRPr b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DRET</a:t>
                      </a:r>
                      <a:endParaRPr b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3074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" sz="1500">
                          <a:solidFill>
                            <a:schemeClr val="dk1"/>
                          </a:solidFill>
                        </a:rPr>
                        <a:t>F</a:t>
                      </a:r>
                      <a:endParaRPr b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GLUK</a:t>
                      </a:r>
                      <a:endParaRPr b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3074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F</a:t>
                      </a:r>
                      <a:endParaRPr b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PRAD</a:t>
                      </a:r>
                      <a:endParaRPr b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  <p:sp>
        <p:nvSpPr>
          <p:cNvPr id="61" name="Google Shape;61;p14"/>
          <p:cNvSpPr txBox="1"/>
          <p:nvPr>
            <p:ph type="title"/>
          </p:nvPr>
        </p:nvSpPr>
        <p:spPr>
          <a:xfrm>
            <a:off x="11110065" y="1197725"/>
            <a:ext cx="3807000" cy="3648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820"/>
              <a:t>Natives</a:t>
            </a:r>
            <a:endParaRPr sz="1820"/>
          </a:p>
        </p:txBody>
      </p:sp>
      <p:sp>
        <p:nvSpPr>
          <p:cNvPr id="62" name="Google Shape;62;p14"/>
          <p:cNvSpPr txBox="1"/>
          <p:nvPr>
            <p:ph type="title"/>
          </p:nvPr>
        </p:nvSpPr>
        <p:spPr>
          <a:xfrm>
            <a:off x="14306600" y="1197725"/>
            <a:ext cx="2244600" cy="4128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i="1" lang="en" sz="1820"/>
              <a:t>Non-Natives</a:t>
            </a:r>
            <a:endParaRPr i="1" sz="1820"/>
          </a:p>
        </p:txBody>
      </p:sp>
      <p:graphicFrame>
        <p:nvGraphicFramePr>
          <p:cNvPr id="63" name="Google Shape;63;p14"/>
          <p:cNvGraphicFramePr/>
          <p:nvPr/>
        </p:nvGraphicFramePr>
        <p:xfrm>
          <a:off x="5313543" y="718908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{952CA3B7-5AA8-497C-8C07-4611106DAFB3}</a:tableStyleId>
              </a:tblPr>
              <a:tblGrid>
                <a:gridCol w="1812725"/>
                <a:gridCol w="1847975"/>
                <a:gridCol w="2288025"/>
              </a:tblGrid>
              <a:tr h="374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Native </a:t>
                      </a: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45700" marL="45700">
                    <a:gradFill>
                      <a:gsLst>
                        <a:gs pos="0">
                          <a:srgbClr val="FFF2CC"/>
                        </a:gs>
                        <a:gs pos="51000">
                          <a:srgbClr val="FFFAE9"/>
                        </a:gs>
                        <a:gs pos="100000">
                          <a:srgbClr val="D0E0E3"/>
                        </a:gs>
                      </a:gsLst>
                      <a:lin ang="18900732" scaled="0"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Native 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T="91425" marB="91425" marR="45700" marL="45700">
                    <a:gradFill>
                      <a:gsLst>
                        <a:gs pos="0">
                          <a:srgbClr val="FFF2CC"/>
                        </a:gs>
                        <a:gs pos="51000">
                          <a:srgbClr val="FFFAE9"/>
                        </a:gs>
                        <a:gs pos="100000">
                          <a:srgbClr val="D0E0E3"/>
                        </a:gs>
                      </a:gsLst>
                      <a:lin ang="18900732" scaled="0"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Native 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T="91425" marB="91425" marR="45700" marL="45700">
                    <a:gradFill>
                      <a:gsLst>
                        <a:gs pos="0">
                          <a:srgbClr val="FFF2CC"/>
                        </a:gs>
                        <a:gs pos="51000">
                          <a:srgbClr val="FFFAE9"/>
                        </a:gs>
                        <a:gs pos="100000">
                          <a:srgbClr val="D0E0E3"/>
                        </a:gs>
                      </a:gsLst>
                      <a:lin ang="18900732" scaled="0"/>
                    </a:gradFill>
                  </a:tcPr>
                </a:tc>
              </a:tr>
              <a:tr h="359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/>
                        <a:t>Non-Native 1,2</a:t>
                      </a:r>
                      <a:endParaRPr i="1"/>
                    </a:p>
                  </a:txBody>
                  <a:tcPr marT="91425" marB="91425" marR="45700" marL="45700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i="1" lang="en">
                          <a:solidFill>
                            <a:schemeClr val="dk1"/>
                          </a:solidFill>
                        </a:rPr>
                        <a:t>Non-Native </a:t>
                      </a:r>
                      <a:r>
                        <a:rPr i="1" lang="en">
                          <a:solidFill>
                            <a:schemeClr val="dk1"/>
                          </a:solidFill>
                        </a:rPr>
                        <a:t>4,5</a:t>
                      </a:r>
                      <a:endParaRPr i="1"/>
                    </a:p>
                  </a:txBody>
                  <a:tcPr marT="91425" marB="91425" marR="45700" marL="45700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i="1" lang="en">
                          <a:solidFill>
                            <a:schemeClr val="dk1"/>
                          </a:solidFill>
                        </a:rPr>
                        <a:t>Non-Native 5,6</a:t>
                      </a:r>
                      <a:endParaRPr i="1"/>
                    </a:p>
                  </a:txBody>
                  <a:tcPr marT="91425" marB="91425" marR="45700" marL="45700">
                    <a:solidFill>
                      <a:srgbClr val="FFF2CC"/>
                    </a:solidFill>
                  </a:tcPr>
                </a:tc>
              </a:tr>
              <a:tr h="385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solidFill>
                            <a:schemeClr val="dk1"/>
                          </a:solidFill>
                        </a:rPr>
                        <a:t>2x Non-Native 3</a:t>
                      </a:r>
                      <a:endParaRPr i="1"/>
                    </a:p>
                  </a:txBody>
                  <a:tcPr marT="91425" marB="91425" marR="45700" marL="45700">
                    <a:gradFill>
                      <a:gsLst>
                        <a:gs pos="0">
                          <a:srgbClr val="FFF2CC"/>
                        </a:gs>
                        <a:gs pos="51000">
                          <a:srgbClr val="FFFAE9"/>
                        </a:gs>
                        <a:gs pos="100000">
                          <a:srgbClr val="D0E0E3"/>
                        </a:gs>
                      </a:gsLst>
                      <a:lin ang="18900044" scaled="0"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">
                          <a:solidFill>
                            <a:schemeClr val="dk1"/>
                          </a:solidFill>
                        </a:rPr>
                        <a:t>2x Non-Native 3</a:t>
                      </a:r>
                      <a:endParaRPr i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45700" marL="45700">
                    <a:gradFill>
                      <a:gsLst>
                        <a:gs pos="0">
                          <a:srgbClr val="FFF2CC"/>
                        </a:gs>
                        <a:gs pos="51000">
                          <a:srgbClr val="FFFAE9"/>
                        </a:gs>
                        <a:gs pos="100000">
                          <a:srgbClr val="D0E0E3"/>
                        </a:gs>
                      </a:gsLst>
                      <a:lin ang="18900044" scaled="0"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">
                          <a:solidFill>
                            <a:schemeClr val="dk1"/>
                          </a:solidFill>
                        </a:rPr>
                        <a:t>2x Non-Native 3</a:t>
                      </a:r>
                      <a:endParaRPr i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45700" marL="45700">
                    <a:gradFill>
                      <a:gsLst>
                        <a:gs pos="0">
                          <a:srgbClr val="FFF2CC"/>
                        </a:gs>
                        <a:gs pos="51000">
                          <a:srgbClr val="FFFAE9"/>
                        </a:gs>
                        <a:gs pos="100000">
                          <a:srgbClr val="D0E0E3"/>
                        </a:gs>
                      </a:gsLst>
                      <a:lin ang="18900044" scaled="0"/>
                    </a:gradFill>
                  </a:tcPr>
                </a:tc>
              </a:tr>
              <a:tr h="644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STOP x 4 </a:t>
                      </a:r>
                      <a:br>
                        <a:rPr lang="en"/>
                      </a:br>
                      <a:r>
                        <a:rPr lang="en"/>
                        <a:t>(Native </a:t>
                      </a:r>
                      <a:r>
                        <a:rPr lang="en"/>
                        <a:t>1</a:t>
                      </a:r>
                      <a:r>
                        <a:rPr lang="en"/>
                        <a:t>/</a:t>
                      </a:r>
                      <a:r>
                        <a:rPr lang="en"/>
                        <a:t>2</a:t>
                      </a:r>
                      <a:r>
                        <a:rPr lang="en"/>
                        <a:t>/</a:t>
                      </a:r>
                      <a:r>
                        <a:rPr lang="en"/>
                        <a:t>3</a:t>
                      </a:r>
                      <a:r>
                        <a:rPr lang="en"/>
                        <a:t>)</a:t>
                      </a:r>
                      <a:endParaRPr/>
                    </a:p>
                  </a:txBody>
                  <a:tcPr marT="91425" marB="91425" marR="45700" marL="45700">
                    <a:gradFill>
                      <a:gsLst>
                        <a:gs pos="0">
                          <a:srgbClr val="FFF2CC"/>
                        </a:gs>
                        <a:gs pos="51000">
                          <a:srgbClr val="FFFAE9"/>
                        </a:gs>
                        <a:gs pos="100000">
                          <a:srgbClr val="D0E0E3"/>
                        </a:gs>
                      </a:gsLst>
                      <a:lin ang="18900732" scaled="0"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i="1" lang="en">
                          <a:solidFill>
                            <a:schemeClr val="dk1"/>
                          </a:solidFill>
                        </a:rPr>
                        <a:t>STOP x 4 (Non-Native </a:t>
                      </a:r>
                      <a:r>
                        <a:rPr i="1" lang="en">
                          <a:solidFill>
                            <a:schemeClr val="dk1"/>
                          </a:solidFill>
                        </a:rPr>
                        <a:t>3</a:t>
                      </a:r>
                      <a:r>
                        <a:rPr i="1" lang="en">
                          <a:solidFill>
                            <a:schemeClr val="dk1"/>
                          </a:solidFill>
                        </a:rPr>
                        <a:t>)</a:t>
                      </a:r>
                      <a:endParaRPr i="1"/>
                    </a:p>
                  </a:txBody>
                  <a:tcPr marT="91425" marB="91425" marR="45700" marL="45700">
                    <a:gradFill>
                      <a:gsLst>
                        <a:gs pos="0">
                          <a:srgbClr val="FFF2CC"/>
                        </a:gs>
                        <a:gs pos="51000">
                          <a:srgbClr val="FFFAE9"/>
                        </a:gs>
                        <a:gs pos="100000">
                          <a:srgbClr val="D0E0E3"/>
                        </a:gs>
                      </a:gsLst>
                      <a:lin ang="18900732" scaled="0"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i="1" lang="en">
                          <a:solidFill>
                            <a:schemeClr val="dk1"/>
                          </a:solidFill>
                        </a:rPr>
                        <a:t>STOP x 4 </a:t>
                      </a:r>
                      <a:br>
                        <a:rPr i="1" lang="en">
                          <a:solidFill>
                            <a:schemeClr val="dk1"/>
                          </a:solidFill>
                        </a:rPr>
                      </a:br>
                      <a:r>
                        <a:rPr i="1" lang="en">
                          <a:solidFill>
                            <a:schemeClr val="dk1"/>
                          </a:solidFill>
                        </a:rPr>
                        <a:t>(Non-native 1/</a:t>
                      </a:r>
                      <a:r>
                        <a:rPr i="1" lang="en">
                          <a:solidFill>
                            <a:schemeClr val="dk1"/>
                          </a:solidFill>
                        </a:rPr>
                        <a:t>4</a:t>
                      </a:r>
                      <a:r>
                        <a:rPr i="1" lang="en">
                          <a:solidFill>
                            <a:schemeClr val="dk1"/>
                          </a:solidFill>
                        </a:rPr>
                        <a:t>/5)</a:t>
                      </a:r>
                      <a:endParaRPr i="1"/>
                    </a:p>
                  </a:txBody>
                  <a:tcPr marT="91425" marB="91425" marR="45700" marL="45700"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  <p:sp>
        <p:nvSpPr>
          <p:cNvPr id="64" name="Google Shape;64;p14"/>
          <p:cNvSpPr txBox="1"/>
          <p:nvPr>
            <p:ph type="title"/>
          </p:nvPr>
        </p:nvSpPr>
        <p:spPr>
          <a:xfrm>
            <a:off x="5161171" y="6434650"/>
            <a:ext cx="4143300" cy="5118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1620" u="sng"/>
              <a:t>IV. </a:t>
            </a:r>
            <a:r>
              <a:rPr b="1" lang="en" sz="1620" u="sng"/>
              <a:t>Testing</a:t>
            </a:r>
            <a:r>
              <a:rPr lang="en" sz="1620"/>
              <a:t> during surgery </a:t>
            </a:r>
            <a:r>
              <a:rPr lang="en" sz="1520"/>
              <a:t>(15min)… </a:t>
            </a:r>
            <a:endParaRPr sz="15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520"/>
              <a:t>3 x 5min blocks of:</a:t>
            </a:r>
            <a:endParaRPr sz="1520"/>
          </a:p>
        </p:txBody>
      </p:sp>
      <p:sp>
        <p:nvSpPr>
          <p:cNvPr id="65" name="Google Shape;65;p14"/>
          <p:cNvSpPr txBox="1"/>
          <p:nvPr>
            <p:ph type="title"/>
          </p:nvPr>
        </p:nvSpPr>
        <p:spPr>
          <a:xfrm>
            <a:off x="5189375" y="1417675"/>
            <a:ext cx="4343700" cy="4128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1620" u="sng"/>
              <a:t>III. Training 2</a:t>
            </a:r>
            <a:r>
              <a:rPr lang="en" sz="1520"/>
              <a:t> on surgery morning (10min)...</a:t>
            </a:r>
            <a:endParaRPr sz="1520"/>
          </a:p>
        </p:txBody>
      </p:sp>
      <p:cxnSp>
        <p:nvCxnSpPr>
          <p:cNvPr id="66" name="Google Shape;66;p14"/>
          <p:cNvCxnSpPr/>
          <p:nvPr/>
        </p:nvCxnSpPr>
        <p:spPr>
          <a:xfrm flipH="1">
            <a:off x="11421235" y="365650"/>
            <a:ext cx="12300" cy="8686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7" name="Google Shape;67;p14"/>
          <p:cNvSpPr txBox="1"/>
          <p:nvPr>
            <p:ph type="title"/>
          </p:nvPr>
        </p:nvSpPr>
        <p:spPr>
          <a:xfrm>
            <a:off x="3773600" y="55050"/>
            <a:ext cx="3082200" cy="7065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 u="sng"/>
              <a:t>Experiment Phases</a:t>
            </a:r>
            <a:endParaRPr sz="1520"/>
          </a:p>
        </p:txBody>
      </p:sp>
      <p:sp>
        <p:nvSpPr>
          <p:cNvPr id="68" name="Google Shape;68;p14"/>
          <p:cNvSpPr txBox="1"/>
          <p:nvPr>
            <p:ph type="title"/>
          </p:nvPr>
        </p:nvSpPr>
        <p:spPr>
          <a:xfrm>
            <a:off x="42898" y="3153250"/>
            <a:ext cx="4143300" cy="7065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1620" u="sng"/>
              <a:t>II. </a:t>
            </a:r>
            <a:r>
              <a:rPr b="1" lang="en" sz="1620" u="sng"/>
              <a:t>Training 1</a:t>
            </a:r>
            <a:r>
              <a:rPr lang="en" sz="1520"/>
              <a:t> </a:t>
            </a:r>
            <a:r>
              <a:rPr lang="en" sz="1520"/>
              <a:t>over Zoom</a:t>
            </a:r>
            <a:r>
              <a:rPr lang="en" sz="1520"/>
              <a:t> (&gt;50min)... </a:t>
            </a:r>
            <a:endParaRPr sz="152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520"/>
              <a:t>10 x 5min blocks of:</a:t>
            </a:r>
            <a:endParaRPr sz="1520"/>
          </a:p>
        </p:txBody>
      </p:sp>
      <p:graphicFrame>
        <p:nvGraphicFramePr>
          <p:cNvPr id="69" name="Google Shape;69;p14"/>
          <p:cNvGraphicFramePr/>
          <p:nvPr/>
        </p:nvGraphicFramePr>
        <p:xfrm>
          <a:off x="242065" y="390563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{952CA3B7-5AA8-497C-8C07-4611106DAFB3}</a:tableStyleId>
              </a:tblPr>
              <a:tblGrid>
                <a:gridCol w="1476150"/>
                <a:gridCol w="1476150"/>
                <a:gridCol w="1476150"/>
              </a:tblGrid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Native </a:t>
                      </a: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gradFill>
                      <a:gsLst>
                        <a:gs pos="0">
                          <a:srgbClr val="FFF2CC"/>
                        </a:gs>
                        <a:gs pos="51000">
                          <a:srgbClr val="FFFAE9"/>
                        </a:gs>
                        <a:gs pos="100000">
                          <a:srgbClr val="D0E0E3"/>
                        </a:gs>
                      </a:gsLst>
                      <a:lin ang="18900732" scaled="0"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Native 2</a:t>
                      </a:r>
                      <a:endParaRPr/>
                    </a:p>
                  </a:txBody>
                  <a:tcPr marT="91425" marB="91425" marR="91425" marL="91425">
                    <a:gradFill>
                      <a:gsLst>
                        <a:gs pos="0">
                          <a:srgbClr val="FFF2CC"/>
                        </a:gs>
                        <a:gs pos="51000">
                          <a:srgbClr val="FFFAE9"/>
                        </a:gs>
                        <a:gs pos="100000">
                          <a:srgbClr val="D0E0E3"/>
                        </a:gs>
                      </a:gsLst>
                      <a:lin ang="18900732" scaled="0"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Native 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T="91425" marB="91425" marR="91425" marL="91425">
                    <a:gradFill>
                      <a:gsLst>
                        <a:gs pos="0">
                          <a:srgbClr val="FFF2CC"/>
                        </a:gs>
                        <a:gs pos="51000">
                          <a:srgbClr val="FFFAE9"/>
                        </a:gs>
                        <a:gs pos="100000">
                          <a:srgbClr val="D0E0E3"/>
                        </a:gs>
                      </a:gsLst>
                      <a:lin ang="18900732" scaled="0"/>
                    </a:gradFill>
                  </a:tcPr>
                </a:tc>
              </a:tr>
              <a:tr h="355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/>
                        <a:t>2x </a:t>
                      </a:r>
                      <a:r>
                        <a:rPr i="1" lang="en"/>
                        <a:t>Non-Native </a:t>
                      </a:r>
                      <a:r>
                        <a:rPr i="1" lang="en"/>
                        <a:t>3</a:t>
                      </a:r>
                      <a:endParaRPr i="1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FFF2CC"/>
                        </a:gs>
                        <a:gs pos="51000">
                          <a:srgbClr val="FFFAE9"/>
                        </a:gs>
                        <a:gs pos="100000">
                          <a:srgbClr val="D0E0E3"/>
                        </a:gs>
                      </a:gsLst>
                      <a:lin ang="18900732" scaled="0"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solidFill>
                            <a:schemeClr val="dk1"/>
                          </a:solidFill>
                        </a:rPr>
                        <a:t>2x </a:t>
                      </a:r>
                      <a:r>
                        <a:rPr i="1" lang="en">
                          <a:solidFill>
                            <a:schemeClr val="dk1"/>
                          </a:solidFill>
                        </a:rPr>
                        <a:t>Non-Native </a:t>
                      </a:r>
                      <a:r>
                        <a:rPr i="1" lang="en">
                          <a:solidFill>
                            <a:schemeClr val="dk1"/>
                          </a:solidFill>
                        </a:rPr>
                        <a:t>3</a:t>
                      </a:r>
                      <a:endParaRPr i="1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FFF2CC"/>
                        </a:gs>
                        <a:gs pos="51000">
                          <a:srgbClr val="FFFAE9"/>
                        </a:gs>
                        <a:gs pos="100000">
                          <a:srgbClr val="D0E0E3"/>
                        </a:gs>
                      </a:gsLst>
                      <a:lin ang="18900732" scaled="0"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solidFill>
                            <a:schemeClr val="dk1"/>
                          </a:solidFill>
                        </a:rPr>
                        <a:t>2x Non-Native 3</a:t>
                      </a:r>
                      <a:endParaRPr i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FFF2CC"/>
                        </a:gs>
                        <a:gs pos="51000">
                          <a:srgbClr val="FFFAE9"/>
                        </a:gs>
                        <a:gs pos="100000">
                          <a:srgbClr val="D0E0E3"/>
                        </a:gs>
                      </a:gsLst>
                      <a:lin ang="18900732" scaled="0"/>
                    </a:gradFill>
                  </a:tcPr>
                </a:tc>
              </a:tr>
              <a:tr h="389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solidFill>
                            <a:schemeClr val="dk1"/>
                          </a:solidFill>
                        </a:rPr>
                        <a:t>2x Non-Native 3</a:t>
                      </a:r>
                      <a:endParaRPr i="1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FFF2CC"/>
                        </a:gs>
                        <a:gs pos="51000">
                          <a:srgbClr val="FFFAE9"/>
                        </a:gs>
                        <a:gs pos="100000">
                          <a:srgbClr val="D0E0E3"/>
                        </a:gs>
                      </a:gsLst>
                      <a:lin ang="18900732" scaled="0"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solidFill>
                            <a:schemeClr val="dk1"/>
                          </a:solidFill>
                        </a:rPr>
                        <a:t>2x Non-Native 3</a:t>
                      </a:r>
                      <a:endParaRPr i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FFF2CC"/>
                        </a:gs>
                        <a:gs pos="51000">
                          <a:srgbClr val="FFFAE9"/>
                        </a:gs>
                        <a:gs pos="100000">
                          <a:srgbClr val="D0E0E3"/>
                        </a:gs>
                      </a:gsLst>
                      <a:lin ang="18900732" scaled="0"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solidFill>
                            <a:schemeClr val="dk1"/>
                          </a:solidFill>
                        </a:rPr>
                        <a:t>2x Non-Native 3</a:t>
                      </a:r>
                      <a:endParaRPr i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FFF2CC"/>
                        </a:gs>
                        <a:gs pos="51000">
                          <a:srgbClr val="FFFAE9"/>
                        </a:gs>
                        <a:gs pos="100000">
                          <a:srgbClr val="D0E0E3"/>
                        </a:gs>
                      </a:gsLst>
                      <a:lin ang="18900732" scaled="0"/>
                    </a:gradFill>
                  </a:tcPr>
                </a:tc>
              </a:tr>
              <a:tr h="82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STOP X 4 (Native </a:t>
                      </a:r>
                      <a:r>
                        <a:rPr lang="en"/>
                        <a:t>2</a:t>
                      </a:r>
                      <a:r>
                        <a:rPr lang="en"/>
                        <a:t>/</a:t>
                      </a:r>
                      <a:r>
                        <a:rPr lang="en"/>
                        <a:t>3</a:t>
                      </a:r>
                      <a:r>
                        <a:rPr lang="en"/>
                        <a:t>/</a:t>
                      </a:r>
                      <a:r>
                        <a:rPr lang="en"/>
                        <a:t>4</a:t>
                      </a:r>
                      <a:r>
                        <a:rPr lang="en"/>
                        <a:t>)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FFF2CC"/>
                        </a:gs>
                        <a:gs pos="51000">
                          <a:srgbClr val="FFFAE9"/>
                        </a:gs>
                        <a:gs pos="100000">
                          <a:srgbClr val="D0E0E3"/>
                        </a:gs>
                      </a:gsLst>
                      <a:lin ang="18900732" scaled="0"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solidFill>
                            <a:schemeClr val="dk1"/>
                          </a:solidFill>
                        </a:rPr>
                        <a:t>STOP X 4 (Non-native </a:t>
                      </a:r>
                      <a:r>
                        <a:rPr i="1" lang="en">
                          <a:solidFill>
                            <a:schemeClr val="dk1"/>
                          </a:solidFill>
                        </a:rPr>
                        <a:t>3</a:t>
                      </a:r>
                      <a:r>
                        <a:rPr i="1" lang="en">
                          <a:solidFill>
                            <a:schemeClr val="dk1"/>
                          </a:solidFill>
                        </a:rPr>
                        <a:t>)</a:t>
                      </a:r>
                      <a:endParaRPr i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FFF2CC"/>
                        </a:gs>
                        <a:gs pos="51000">
                          <a:srgbClr val="FFFAE9"/>
                        </a:gs>
                        <a:gs pos="100000">
                          <a:srgbClr val="D0E0E3"/>
                        </a:gs>
                      </a:gsLst>
                      <a:lin ang="18900732" scaled="0"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solidFill>
                            <a:schemeClr val="dk1"/>
                          </a:solidFill>
                        </a:rPr>
                        <a:t>STOP X 4 (Non-native </a:t>
                      </a:r>
                      <a:r>
                        <a:rPr i="1" lang="en">
                          <a:solidFill>
                            <a:schemeClr val="dk1"/>
                          </a:solidFill>
                        </a:rPr>
                        <a:t>3</a:t>
                      </a:r>
                      <a:r>
                        <a:rPr i="1" lang="en">
                          <a:solidFill>
                            <a:schemeClr val="dk1"/>
                          </a:solidFill>
                        </a:rPr>
                        <a:t>)</a:t>
                      </a:r>
                      <a:endParaRPr i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FFF2CC"/>
                        </a:gs>
                        <a:gs pos="51000">
                          <a:srgbClr val="FFFAE9"/>
                        </a:gs>
                        <a:gs pos="100000">
                          <a:srgbClr val="D0E0E3"/>
                        </a:gs>
                      </a:gsLst>
                      <a:lin ang="18900732" scaled="0"/>
                    </a:gradFill>
                  </a:tcPr>
                </a:tc>
              </a:tr>
            </a:tbl>
          </a:graphicData>
        </a:graphic>
      </p:graphicFrame>
      <p:sp>
        <p:nvSpPr>
          <p:cNvPr id="70" name="Google Shape;70;p14"/>
          <p:cNvSpPr txBox="1"/>
          <p:nvPr>
            <p:ph type="title"/>
          </p:nvPr>
        </p:nvSpPr>
        <p:spPr>
          <a:xfrm>
            <a:off x="30748" y="1477625"/>
            <a:ext cx="4198200" cy="7065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1620" u="sng"/>
              <a:t>I. </a:t>
            </a:r>
            <a:r>
              <a:rPr b="1" lang="en" sz="1620" u="sng"/>
              <a:t>Familiarization</a:t>
            </a:r>
            <a:r>
              <a:rPr lang="en" sz="1620"/>
              <a:t> </a:t>
            </a:r>
            <a:r>
              <a:rPr lang="en" sz="1520"/>
              <a:t>over Zoom.. 1 x 2min:</a:t>
            </a:r>
            <a:endParaRPr sz="1520"/>
          </a:p>
        </p:txBody>
      </p:sp>
      <p:cxnSp>
        <p:nvCxnSpPr>
          <p:cNvPr id="71" name="Google Shape;71;p14"/>
          <p:cNvCxnSpPr/>
          <p:nvPr/>
        </p:nvCxnSpPr>
        <p:spPr>
          <a:xfrm flipH="1">
            <a:off x="5313550" y="6401900"/>
            <a:ext cx="5948700" cy="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72" name="Google Shape;72;p14"/>
          <p:cNvCxnSpPr/>
          <p:nvPr/>
        </p:nvCxnSpPr>
        <p:spPr>
          <a:xfrm flipH="1">
            <a:off x="180325" y="2932325"/>
            <a:ext cx="4477200" cy="1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graphicFrame>
        <p:nvGraphicFramePr>
          <p:cNvPr id="73" name="Google Shape;73;p14"/>
          <p:cNvGraphicFramePr/>
          <p:nvPr/>
        </p:nvGraphicFramePr>
        <p:xfrm>
          <a:off x="242065" y="19907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{952CA3B7-5AA8-497C-8C07-4611106DAFB3}</a:tableStyleId>
              </a:tblPr>
              <a:tblGrid>
                <a:gridCol w="1476150"/>
                <a:gridCol w="1476150"/>
                <a:gridCol w="1476150"/>
              </a:tblGrid>
              <a:tr h="609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Native </a:t>
                      </a:r>
                      <a:r>
                        <a:rPr lang="en"/>
                        <a:t>F</a:t>
                      </a:r>
                      <a:endParaRPr sz="1400"/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solidFill>
                            <a:schemeClr val="dk1"/>
                          </a:solidFill>
                        </a:rPr>
                        <a:t>Non-Native F</a:t>
                      </a:r>
                      <a:endParaRPr i="1" sz="1400"/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STOP x 4 (Native F)</a:t>
                      </a:r>
                      <a:endParaRPr sz="1400"/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  <p:sp>
        <p:nvSpPr>
          <p:cNvPr id="74" name="Google Shape;74;p14"/>
          <p:cNvSpPr txBox="1"/>
          <p:nvPr>
            <p:ph type="title"/>
          </p:nvPr>
        </p:nvSpPr>
        <p:spPr>
          <a:xfrm>
            <a:off x="12826553" y="76200"/>
            <a:ext cx="1873500" cy="5118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 u="sng"/>
              <a:t>Stimuli</a:t>
            </a:r>
            <a:endParaRPr sz="2320" u="sng"/>
          </a:p>
        </p:txBody>
      </p:sp>
      <p:sp>
        <p:nvSpPr>
          <p:cNvPr id="75" name="Google Shape;75;p14"/>
          <p:cNvSpPr txBox="1"/>
          <p:nvPr/>
        </p:nvSpPr>
        <p:spPr>
          <a:xfrm>
            <a:off x="11540002" y="545225"/>
            <a:ext cx="4706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chemeClr val="lt1"/>
                </a:highlight>
              </a:rPr>
              <a:t>(This color coding illustrates one </a:t>
            </a:r>
            <a:r>
              <a:rPr lang="en">
                <a:highlight>
                  <a:schemeClr val="lt1"/>
                </a:highlight>
              </a:rPr>
              <a:t>example stimulus set [group 3], out of the 7 possible sets.)</a:t>
            </a:r>
            <a:endParaRPr>
              <a:highlight>
                <a:schemeClr val="lt1"/>
              </a:highlight>
            </a:endParaRPr>
          </a:p>
        </p:txBody>
      </p:sp>
      <p:graphicFrame>
        <p:nvGraphicFramePr>
          <p:cNvPr id="76" name="Google Shape;76;p14"/>
          <p:cNvGraphicFramePr/>
          <p:nvPr/>
        </p:nvGraphicFramePr>
        <p:xfrm>
          <a:off x="11658600" y="16756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{9C9391AD-DBDE-4E96-B961-3F42B183056E}</a:tableStyleId>
              </a:tblPr>
              <a:tblGrid>
                <a:gridCol w="421825"/>
                <a:gridCol w="843650"/>
              </a:tblGrid>
              <a:tr h="3074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2a</a:t>
                      </a:r>
                      <a:endParaRPr b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FFF2CC"/>
                        </a:gs>
                        <a:gs pos="51000">
                          <a:srgbClr val="FFFAE9"/>
                        </a:gs>
                        <a:gs pos="100000">
                          <a:srgbClr val="D0E0E3"/>
                        </a:gs>
                      </a:gsLst>
                      <a:lin ang="18900732" scaled="0"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GRIK</a:t>
                      </a:r>
                      <a:endParaRPr b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FFF2CC"/>
                        </a:gs>
                        <a:gs pos="51000">
                          <a:srgbClr val="FFFAE9"/>
                        </a:gs>
                        <a:gs pos="100000">
                          <a:srgbClr val="D0E0E3"/>
                        </a:gs>
                      </a:gsLst>
                      <a:lin ang="18900732" scaled="0"/>
                    </a:gradFill>
                  </a:tcPr>
                </a:tc>
              </a:tr>
              <a:tr h="3074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2a</a:t>
                      </a:r>
                      <a:endParaRPr b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FFF2CC"/>
                        </a:gs>
                        <a:gs pos="51000">
                          <a:srgbClr val="FFFAE9"/>
                        </a:gs>
                        <a:gs pos="100000">
                          <a:srgbClr val="D0E0E3"/>
                        </a:gs>
                      </a:gsLst>
                      <a:lin ang="18900732" scaled="0"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SLAD</a:t>
                      </a:r>
                      <a:endParaRPr b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FFF2CC"/>
                        </a:gs>
                        <a:gs pos="51000">
                          <a:srgbClr val="FFFAE9"/>
                        </a:gs>
                        <a:gs pos="100000">
                          <a:srgbClr val="D0E0E3"/>
                        </a:gs>
                      </a:gsLst>
                      <a:lin ang="18900732" scaled="0"/>
                    </a:gradFill>
                  </a:tcPr>
                </a:tc>
              </a:tr>
              <a:tr h="3074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2b</a:t>
                      </a:r>
                      <a:endParaRPr b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FFF2CC"/>
                        </a:gs>
                        <a:gs pos="51000">
                          <a:srgbClr val="FFFAE9"/>
                        </a:gs>
                        <a:gs pos="100000">
                          <a:srgbClr val="D0E0E3"/>
                        </a:gs>
                      </a:gsLst>
                      <a:lin ang="18900732" scaled="0"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TREG</a:t>
                      </a:r>
                      <a:endParaRPr b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FFF2CC"/>
                        </a:gs>
                        <a:gs pos="51000">
                          <a:srgbClr val="FFFAE9"/>
                        </a:gs>
                        <a:gs pos="100000">
                          <a:srgbClr val="D0E0E3"/>
                        </a:gs>
                      </a:gsLst>
                      <a:lin ang="18900732" scaled="0"/>
                    </a:gradFill>
                  </a:tcPr>
                </a:tc>
              </a:tr>
              <a:tr h="3074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2b</a:t>
                      </a:r>
                      <a:endParaRPr b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FFF2CC"/>
                        </a:gs>
                        <a:gs pos="51000">
                          <a:srgbClr val="FFFAE9"/>
                        </a:gs>
                        <a:gs pos="100000">
                          <a:srgbClr val="D0E0E3"/>
                        </a:gs>
                      </a:gsLst>
                      <a:lin ang="18900732" scaled="0"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FRUT</a:t>
                      </a:r>
                      <a:endParaRPr b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FFF2CC"/>
                        </a:gs>
                        <a:gs pos="51000">
                          <a:srgbClr val="FFFAE9"/>
                        </a:gs>
                        <a:gs pos="100000">
                          <a:srgbClr val="D0E0E3"/>
                        </a:gs>
                      </a:gsLst>
                      <a:lin ang="18900732" scaled="0"/>
                    </a:gradFill>
                  </a:tcPr>
                </a:tc>
              </a:tr>
              <a:tr h="167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3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3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074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3a</a:t>
                      </a:r>
                      <a:endParaRPr b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FFF2CC"/>
                        </a:gs>
                        <a:gs pos="51000">
                          <a:srgbClr val="FFFAE9"/>
                        </a:gs>
                        <a:gs pos="100000">
                          <a:srgbClr val="D0E0E3"/>
                        </a:gs>
                      </a:gsLst>
                      <a:lin ang="18900732" scaled="0"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THRIK</a:t>
                      </a:r>
                      <a:endParaRPr b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FFF2CC"/>
                        </a:gs>
                        <a:gs pos="51000">
                          <a:srgbClr val="FFFAE9"/>
                        </a:gs>
                        <a:gs pos="100000">
                          <a:srgbClr val="D0E0E3"/>
                        </a:gs>
                      </a:gsLst>
                      <a:lin ang="18900732" scaled="0"/>
                    </a:gradFill>
                  </a:tcPr>
                </a:tc>
              </a:tr>
              <a:tr h="3074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3a</a:t>
                      </a:r>
                      <a:endParaRPr b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FFF2CC"/>
                        </a:gs>
                        <a:gs pos="51000">
                          <a:srgbClr val="FFFAE9"/>
                        </a:gs>
                        <a:gs pos="100000">
                          <a:srgbClr val="D0E0E3"/>
                        </a:gs>
                      </a:gsLst>
                      <a:lin ang="18900732" scaled="0"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SHRUD</a:t>
                      </a:r>
                      <a:endParaRPr b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FFF2CC"/>
                        </a:gs>
                        <a:gs pos="51000">
                          <a:srgbClr val="FFFAE9"/>
                        </a:gs>
                        <a:gs pos="100000">
                          <a:srgbClr val="D0E0E3"/>
                        </a:gs>
                      </a:gsLst>
                      <a:lin ang="18900732" scaled="0"/>
                    </a:gradFill>
                  </a:tcPr>
                </a:tc>
              </a:tr>
              <a:tr h="3074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3b</a:t>
                      </a:r>
                      <a:endParaRPr b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FFF2CC"/>
                        </a:gs>
                        <a:gs pos="51000">
                          <a:srgbClr val="FFFAE9"/>
                        </a:gs>
                        <a:gs pos="100000">
                          <a:srgbClr val="D0E0E3"/>
                        </a:gs>
                      </a:gsLst>
                      <a:lin ang="18900732" scaled="0"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KLAG</a:t>
                      </a:r>
                      <a:endParaRPr b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FFF2CC"/>
                        </a:gs>
                        <a:gs pos="51000">
                          <a:srgbClr val="FFFAE9"/>
                        </a:gs>
                        <a:gs pos="100000">
                          <a:srgbClr val="D0E0E3"/>
                        </a:gs>
                      </a:gsLst>
                      <a:lin ang="18900732" scaled="0"/>
                    </a:gradFill>
                  </a:tcPr>
                </a:tc>
              </a:tr>
              <a:tr h="3074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3b</a:t>
                      </a:r>
                      <a:endParaRPr b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FFF2CC"/>
                        </a:gs>
                        <a:gs pos="51000">
                          <a:srgbClr val="FFFAE9"/>
                        </a:gs>
                        <a:gs pos="100000">
                          <a:srgbClr val="D0E0E3"/>
                        </a:gs>
                      </a:gsLst>
                      <a:lin ang="18900732" scaled="0"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FLET</a:t>
                      </a:r>
                      <a:endParaRPr b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FFF2CC"/>
                        </a:gs>
                        <a:gs pos="51000">
                          <a:srgbClr val="FFFAE9"/>
                        </a:gs>
                        <a:gs pos="100000">
                          <a:srgbClr val="D0E0E3"/>
                        </a:gs>
                      </a:gsLst>
                      <a:lin ang="18900732" scaled="0"/>
                    </a:gradFill>
                  </a:tcPr>
                </a:tc>
              </a:tr>
              <a:tr h="1777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3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3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07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4a</a:t>
                      </a:r>
                      <a:endParaRPr b="1" sz="15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FFF2CC"/>
                        </a:gs>
                        <a:gs pos="51000">
                          <a:srgbClr val="FFFAE9"/>
                        </a:gs>
                        <a:gs pos="100000">
                          <a:srgbClr val="D0E0E3"/>
                        </a:gs>
                      </a:gsLst>
                      <a:lin ang="18900732" scaled="0"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SKET</a:t>
                      </a:r>
                      <a:endParaRPr b="1" sz="15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FFF2CC"/>
                        </a:gs>
                        <a:gs pos="51000">
                          <a:srgbClr val="FFFAE9"/>
                        </a:gs>
                        <a:gs pos="100000">
                          <a:srgbClr val="D0E0E3"/>
                        </a:gs>
                      </a:gsLst>
                      <a:lin ang="18900732" scaled="0"/>
                    </a:gradFill>
                  </a:tcPr>
                </a:tc>
              </a:tr>
              <a:tr h="3074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4a</a:t>
                      </a:r>
                      <a:endParaRPr b="1" sz="15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FFF2CC"/>
                        </a:gs>
                        <a:gs pos="51000">
                          <a:srgbClr val="FFFAE9"/>
                        </a:gs>
                        <a:gs pos="100000">
                          <a:srgbClr val="D0E0E3"/>
                        </a:gs>
                      </a:gsLst>
                      <a:lin ang="18900732" scaled="0"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KRAD</a:t>
                      </a:r>
                      <a:endParaRPr b="1" sz="15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FFF2CC"/>
                        </a:gs>
                        <a:gs pos="51000">
                          <a:srgbClr val="FFFAE9"/>
                        </a:gs>
                        <a:gs pos="100000">
                          <a:srgbClr val="D0E0E3"/>
                        </a:gs>
                      </a:gsLst>
                      <a:lin ang="18900732" scaled="0"/>
                    </a:gradFill>
                  </a:tcPr>
                </a:tc>
              </a:tr>
              <a:tr h="307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4b</a:t>
                      </a:r>
                      <a:endParaRPr b="1" sz="15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FFF2CC"/>
                        </a:gs>
                        <a:gs pos="51000">
                          <a:srgbClr val="FFFAE9"/>
                        </a:gs>
                        <a:gs pos="100000">
                          <a:srgbClr val="D0E0E3"/>
                        </a:gs>
                      </a:gsLst>
                      <a:lin ang="18900732" scaled="0"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PLIK</a:t>
                      </a:r>
                      <a:endParaRPr b="1" sz="15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FFF2CC"/>
                        </a:gs>
                        <a:gs pos="51000">
                          <a:srgbClr val="FFFAE9"/>
                        </a:gs>
                        <a:gs pos="100000">
                          <a:srgbClr val="D0E0E3"/>
                        </a:gs>
                      </a:gsLst>
                      <a:lin ang="18900732" scaled="0"/>
                    </a:gradFill>
                  </a:tcPr>
                </a:tc>
              </a:tr>
              <a:tr h="307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4b</a:t>
                      </a:r>
                      <a:endParaRPr b="1" sz="15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FFF2CC"/>
                        </a:gs>
                        <a:gs pos="51000">
                          <a:srgbClr val="FFFAE9"/>
                        </a:gs>
                        <a:gs pos="100000">
                          <a:srgbClr val="D0E0E3"/>
                        </a:gs>
                      </a:gsLst>
                      <a:lin ang="18900732" scaled="0"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BRUG</a:t>
                      </a:r>
                      <a:endParaRPr b="1" sz="15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FFF2CC"/>
                        </a:gs>
                        <a:gs pos="51000">
                          <a:srgbClr val="FFFAE9"/>
                        </a:gs>
                        <a:gs pos="100000">
                          <a:srgbClr val="D0E0E3"/>
                        </a:gs>
                      </a:gsLst>
                      <a:lin ang="18900732" scaled="0"/>
                    </a:gradFill>
                  </a:tcPr>
                </a:tc>
              </a:tr>
            </a:tbl>
          </a:graphicData>
        </a:graphic>
      </p:graphicFrame>
      <p:sp>
        <p:nvSpPr>
          <p:cNvPr id="77" name="Google Shape;77;p14"/>
          <p:cNvSpPr/>
          <p:nvPr/>
        </p:nvSpPr>
        <p:spPr>
          <a:xfrm>
            <a:off x="11797677" y="7525700"/>
            <a:ext cx="2708700" cy="1542000"/>
          </a:xfrm>
          <a:prstGeom prst="rect">
            <a:avLst/>
          </a:prstGeom>
          <a:noFill/>
          <a:ln cap="flat" cmpd="sng" w="38100">
            <a:solidFill>
              <a:srgbClr val="595959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graphicFrame>
        <p:nvGraphicFramePr>
          <p:cNvPr id="78" name="Google Shape;78;p14"/>
          <p:cNvGraphicFramePr/>
          <p:nvPr/>
        </p:nvGraphicFramePr>
        <p:xfrm>
          <a:off x="11854223" y="759838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{9C9391AD-DBDE-4E96-B961-3F42B183056E}</a:tableStyleId>
              </a:tblPr>
              <a:tblGrid>
                <a:gridCol w="582025"/>
                <a:gridCol w="1970800"/>
              </a:tblGrid>
              <a:tr h="304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Key:</a:t>
                      </a:r>
                      <a:endParaRPr b="1" sz="18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0000"/>
                          </a:solidFill>
                        </a:rPr>
                        <a:t>Familiarization only</a:t>
                      </a:r>
                      <a:endParaRPr b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304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500">
                          <a:solidFill>
                            <a:srgbClr val="000000"/>
                          </a:solidFill>
                        </a:rPr>
                        <a:t>Training 2 only</a:t>
                      </a:r>
                      <a:endParaRPr b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</a:tr>
              <a:tr h="304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Testing only</a:t>
                      </a:r>
                      <a:endParaRPr b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304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1500"/>
                        <a:t>Training and testing</a:t>
                      </a:r>
                      <a:endParaRPr b="1" i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FFF2CC"/>
                        </a:gs>
                        <a:gs pos="51000">
                          <a:srgbClr val="FFFAE9"/>
                        </a:gs>
                        <a:gs pos="100000">
                          <a:srgbClr val="D0E0E3"/>
                        </a:gs>
                      </a:gsLst>
                      <a:lin ang="18900732" scaled="0"/>
                    </a:gradFill>
                  </a:tcPr>
                </a:tc>
              </a:tr>
            </a:tbl>
          </a:graphicData>
        </a:graphic>
      </p:graphicFrame>
      <p:graphicFrame>
        <p:nvGraphicFramePr>
          <p:cNvPr id="79" name="Google Shape;79;p14"/>
          <p:cNvGraphicFramePr/>
          <p:nvPr/>
        </p:nvGraphicFramePr>
        <p:xfrm>
          <a:off x="13175280" y="16756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{9C9391AD-DBDE-4E96-B961-3F42B183056E}</a:tableStyleId>
              </a:tblPr>
              <a:tblGrid>
                <a:gridCol w="295925"/>
                <a:gridCol w="745375"/>
              </a:tblGrid>
              <a:tr h="304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5a</a:t>
                      </a:r>
                      <a:endParaRPr b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BLAT</a:t>
                      </a:r>
                      <a:endParaRPr b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</a:tr>
              <a:tr h="304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5a</a:t>
                      </a:r>
                      <a:endParaRPr b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DRIG</a:t>
                      </a:r>
                      <a:endParaRPr b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</a:tr>
              <a:tr h="304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5b</a:t>
                      </a:r>
                      <a:endParaRPr b="1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GRUD</a:t>
                      </a:r>
                      <a:endParaRPr b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</a:tr>
              <a:tr h="304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5b</a:t>
                      </a:r>
                      <a:endParaRPr b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SLEK</a:t>
                      </a:r>
                      <a:endParaRPr b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</a:tr>
              <a:tr h="167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3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3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6a</a:t>
                      </a:r>
                      <a:endParaRPr b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GLAT</a:t>
                      </a:r>
                      <a:endParaRPr b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</a:tr>
              <a:tr h="304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6a</a:t>
                      </a:r>
                      <a:endParaRPr b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SKIG</a:t>
                      </a:r>
                      <a:endParaRPr b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</a:tr>
              <a:tr h="304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6b</a:t>
                      </a:r>
                      <a:endParaRPr b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TRUD</a:t>
                      </a:r>
                      <a:endParaRPr b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</a:tr>
              <a:tr h="304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6b</a:t>
                      </a:r>
                      <a:endParaRPr b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FREK</a:t>
                      </a:r>
                      <a:endParaRPr b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</a:tr>
              <a:tr h="177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3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3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7a</a:t>
                      </a:r>
                      <a:endParaRPr b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THRAT</a:t>
                      </a:r>
                      <a:endParaRPr b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</a:tr>
              <a:tr h="304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7a</a:t>
                      </a:r>
                      <a:endParaRPr b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FLIG</a:t>
                      </a:r>
                      <a:endParaRPr b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</a:tr>
              <a:tr h="304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7b</a:t>
                      </a:r>
                      <a:endParaRPr b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KLUD</a:t>
                      </a:r>
                      <a:endParaRPr b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</a:tr>
              <a:tr h="304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7b</a:t>
                      </a:r>
                      <a:endParaRPr b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PREK</a:t>
                      </a:r>
                      <a:endParaRPr b="1" sz="1500"/>
                    </a:p>
                  </a:txBody>
                  <a:tcPr marT="33875" marB="3387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</a:tr>
            </a:tbl>
          </a:graphicData>
        </a:graphic>
      </p:graphicFrame>
      <p:sp>
        <p:nvSpPr>
          <p:cNvPr id="80" name="Google Shape;80;p14"/>
          <p:cNvSpPr txBox="1"/>
          <p:nvPr>
            <p:ph type="title"/>
          </p:nvPr>
        </p:nvSpPr>
        <p:spPr>
          <a:xfrm>
            <a:off x="485125" y="532000"/>
            <a:ext cx="3565500" cy="8922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Remote session </a:t>
            </a:r>
            <a:endParaRPr sz="232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(1-3 days before surgery)</a:t>
            </a:r>
            <a:endParaRPr sz="1520"/>
          </a:p>
        </p:txBody>
      </p:sp>
      <p:sp>
        <p:nvSpPr>
          <p:cNvPr id="81" name="Google Shape;81;p14"/>
          <p:cNvSpPr txBox="1"/>
          <p:nvPr>
            <p:ph type="title"/>
          </p:nvPr>
        </p:nvSpPr>
        <p:spPr>
          <a:xfrm>
            <a:off x="6487650" y="532000"/>
            <a:ext cx="3565500" cy="7065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In-person</a:t>
            </a:r>
            <a:r>
              <a:rPr lang="en" sz="2320"/>
              <a:t> sessions</a:t>
            </a:r>
            <a:endParaRPr sz="232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(day of surgery)</a:t>
            </a:r>
            <a:endParaRPr sz="1520"/>
          </a:p>
        </p:txBody>
      </p:sp>
      <p:graphicFrame>
        <p:nvGraphicFramePr>
          <p:cNvPr id="82" name="Google Shape;82;p14"/>
          <p:cNvGraphicFramePr/>
          <p:nvPr/>
        </p:nvGraphicFramePr>
        <p:xfrm>
          <a:off x="5332252" y="189109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{952CA3B7-5AA8-497C-8C07-4611106DAFB3}</a:tableStyleId>
              </a:tblPr>
              <a:tblGrid>
                <a:gridCol w="983825"/>
                <a:gridCol w="983825"/>
                <a:gridCol w="983825"/>
                <a:gridCol w="949075"/>
                <a:gridCol w="1038300"/>
                <a:gridCol w="964100"/>
              </a:tblGrid>
              <a:tr h="362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Native 1a</a:t>
                      </a:r>
                      <a:endParaRPr/>
                    </a:p>
                  </a:txBody>
                  <a:tcPr marT="91425" marB="91425" marR="91425" marL="91425">
                    <a:gradFill>
                      <a:gsLst>
                        <a:gs pos="0">
                          <a:srgbClr val="FFF2CC"/>
                        </a:gs>
                        <a:gs pos="51000">
                          <a:srgbClr val="FFFAE9"/>
                        </a:gs>
                        <a:gs pos="100000">
                          <a:srgbClr val="D0E0E3"/>
                        </a:gs>
                      </a:gsLst>
                      <a:lin ang="18900732" scaled="0"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Native 5a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Native 2a</a:t>
                      </a:r>
                      <a:endParaRPr/>
                    </a:p>
                  </a:txBody>
                  <a:tcPr marT="91425" marB="91425" marR="91425" marL="91425">
                    <a:gradFill>
                      <a:gsLst>
                        <a:gs pos="0">
                          <a:srgbClr val="FFF2CC"/>
                        </a:gs>
                        <a:gs pos="51000">
                          <a:srgbClr val="FFFAE9"/>
                        </a:gs>
                        <a:gs pos="100000">
                          <a:srgbClr val="D0E0E3"/>
                        </a:gs>
                      </a:gsLst>
                      <a:lin ang="18900732" scaled="0"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Native 6a 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Native 3a</a:t>
                      </a:r>
                      <a:endParaRPr/>
                    </a:p>
                  </a:txBody>
                  <a:tcPr marT="91425" marB="91425" marR="91425" marL="91425">
                    <a:gradFill>
                      <a:gsLst>
                        <a:gs pos="0">
                          <a:srgbClr val="FFF2CC"/>
                        </a:gs>
                        <a:gs pos="51000">
                          <a:srgbClr val="FFFAE9"/>
                        </a:gs>
                        <a:gs pos="100000">
                          <a:srgbClr val="D0E0E3"/>
                        </a:gs>
                      </a:gsLst>
                      <a:lin ang="18900732" scaled="0"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Native 7a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</a:tr>
              <a:tr h="396200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/>
                        <a:t>2x Non-Native 3</a:t>
                      </a:r>
                      <a:endParaRPr i="1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FFF2CC"/>
                        </a:gs>
                        <a:gs pos="51000">
                          <a:srgbClr val="FFFAE9"/>
                        </a:gs>
                        <a:gs pos="100000">
                          <a:srgbClr val="D0E0E3"/>
                        </a:gs>
                      </a:gsLst>
                      <a:lin ang="18900732" scaled="0"/>
                    </a:gra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solidFill>
                            <a:schemeClr val="dk1"/>
                          </a:solidFill>
                        </a:rPr>
                        <a:t>2x Non-Native 3</a:t>
                      </a:r>
                      <a:endParaRPr i="1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FFF2CC"/>
                        </a:gs>
                        <a:gs pos="51000">
                          <a:srgbClr val="FFFAE9"/>
                        </a:gs>
                        <a:gs pos="100000">
                          <a:srgbClr val="D0E0E3"/>
                        </a:gs>
                      </a:gsLst>
                      <a:lin ang="18900732" scaled="0"/>
                    </a:gra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solidFill>
                            <a:schemeClr val="dk1"/>
                          </a:solidFill>
                        </a:rPr>
                        <a:t>2x Non-Native 3</a:t>
                      </a:r>
                      <a:endParaRPr i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FFF2CC"/>
                        </a:gs>
                        <a:gs pos="51000">
                          <a:srgbClr val="FFFAE9"/>
                        </a:gs>
                        <a:gs pos="100000">
                          <a:srgbClr val="D0E0E3"/>
                        </a:gs>
                      </a:gsLst>
                      <a:lin ang="18900732" scaled="0"/>
                    </a:gradFill>
                  </a:tcPr>
                </a:tc>
                <a:tc hMerge="1"/>
              </a:tr>
              <a:tr h="396200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solidFill>
                            <a:schemeClr val="dk1"/>
                          </a:solidFill>
                        </a:rPr>
                        <a:t>2x Non-Native 3</a:t>
                      </a:r>
                      <a:endParaRPr i="1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FFF2CC"/>
                        </a:gs>
                        <a:gs pos="51000">
                          <a:srgbClr val="FFFAE9"/>
                        </a:gs>
                        <a:gs pos="100000">
                          <a:srgbClr val="D0E0E3"/>
                        </a:gs>
                      </a:gsLst>
                      <a:lin ang="18900732" scaled="0"/>
                    </a:gra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solidFill>
                            <a:schemeClr val="dk1"/>
                          </a:solidFill>
                        </a:rPr>
                        <a:t>2x Non-Native 3</a:t>
                      </a:r>
                      <a:endParaRPr i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FFF2CC"/>
                        </a:gs>
                        <a:gs pos="51000">
                          <a:srgbClr val="FFFAE9"/>
                        </a:gs>
                        <a:gs pos="100000">
                          <a:srgbClr val="D0E0E3"/>
                        </a:gs>
                      </a:gsLst>
                      <a:lin ang="18900732" scaled="0"/>
                    </a:gra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solidFill>
                            <a:schemeClr val="dk1"/>
                          </a:solidFill>
                        </a:rPr>
                        <a:t>2x Non-Native 3</a:t>
                      </a:r>
                      <a:endParaRPr i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FFF2CC"/>
                        </a:gs>
                        <a:gs pos="51000">
                          <a:srgbClr val="FFFAE9"/>
                        </a:gs>
                        <a:gs pos="100000">
                          <a:srgbClr val="D0E0E3"/>
                        </a:gs>
                      </a:gsLst>
                      <a:lin ang="18900732" scaled="0"/>
                    </a:gradFill>
                  </a:tcPr>
                </a:tc>
                <a:tc hMerge="1"/>
              </a:tr>
              <a:tr h="802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STOP X 4 (Native 2a/3a/4a)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FFF2CC"/>
                        </a:gs>
                        <a:gs pos="51000">
                          <a:srgbClr val="FFFAE9"/>
                        </a:gs>
                        <a:gs pos="100000">
                          <a:srgbClr val="D0E0E3"/>
                        </a:gs>
                      </a:gsLst>
                      <a:lin ang="18900732" scaled="0"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STOP x4 (Native 5a/6a/7a)</a:t>
                      </a:r>
                      <a:endParaRPr i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solidFill>
                            <a:schemeClr val="dk1"/>
                          </a:solidFill>
                        </a:rPr>
                        <a:t>STOP X 4 (Non-native 3)</a:t>
                      </a:r>
                      <a:endParaRPr i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FFF2CC"/>
                        </a:gs>
                        <a:gs pos="51000">
                          <a:srgbClr val="FFFAE9"/>
                        </a:gs>
                        <a:gs pos="100000">
                          <a:srgbClr val="D0E0E3"/>
                        </a:gs>
                      </a:gsLst>
                      <a:lin ang="18900732" scaled="0"/>
                    </a:gra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solidFill>
                            <a:schemeClr val="dk1"/>
                          </a:solidFill>
                        </a:rPr>
                        <a:t>STOP X 4 </a:t>
                      </a:r>
                      <a:br>
                        <a:rPr i="1" lang="en">
                          <a:solidFill>
                            <a:schemeClr val="dk1"/>
                          </a:solidFill>
                        </a:rPr>
                      </a:br>
                      <a:r>
                        <a:rPr i="1" lang="en">
                          <a:solidFill>
                            <a:schemeClr val="dk1"/>
                          </a:solidFill>
                        </a:rPr>
                        <a:t>(Non-native 3)</a:t>
                      </a:r>
                      <a:endParaRPr i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FFF2CC"/>
                        </a:gs>
                        <a:gs pos="51000">
                          <a:srgbClr val="FFFAE9"/>
                        </a:gs>
                        <a:gs pos="100000">
                          <a:srgbClr val="D0E0E3"/>
                        </a:gs>
                      </a:gsLst>
                      <a:lin ang="18900732" scaled="0"/>
                    </a:gradFill>
                  </a:tcPr>
                </a:tc>
                <a:tc hMerge="1"/>
              </a:tr>
            </a:tbl>
          </a:graphicData>
        </a:graphic>
      </p:graphicFrame>
      <p:graphicFrame>
        <p:nvGraphicFramePr>
          <p:cNvPr id="83" name="Google Shape;83;p14"/>
          <p:cNvGraphicFramePr/>
          <p:nvPr/>
        </p:nvGraphicFramePr>
        <p:xfrm>
          <a:off x="5352052" y="415503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{952CA3B7-5AA8-497C-8C07-4611106DAFB3}</a:tableStyleId>
              </a:tblPr>
              <a:tblGrid>
                <a:gridCol w="983825"/>
                <a:gridCol w="983825"/>
                <a:gridCol w="983825"/>
                <a:gridCol w="949075"/>
                <a:gridCol w="1038300"/>
                <a:gridCol w="964100"/>
              </a:tblGrid>
              <a:tr h="362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Native 1b</a:t>
                      </a:r>
                      <a:endParaRPr/>
                    </a:p>
                  </a:txBody>
                  <a:tcPr marT="91425" marB="91425" marR="91425" marL="91425">
                    <a:gradFill>
                      <a:gsLst>
                        <a:gs pos="0">
                          <a:srgbClr val="FFF2CC"/>
                        </a:gs>
                        <a:gs pos="51000">
                          <a:srgbClr val="FFFAE9"/>
                        </a:gs>
                        <a:gs pos="100000">
                          <a:srgbClr val="D0E0E3"/>
                        </a:gs>
                      </a:gsLst>
                      <a:lin ang="18900732" scaled="0"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Native 5b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Native 2b</a:t>
                      </a:r>
                      <a:endParaRPr/>
                    </a:p>
                  </a:txBody>
                  <a:tcPr marT="91425" marB="91425" marR="91425" marL="91425">
                    <a:gradFill>
                      <a:gsLst>
                        <a:gs pos="0">
                          <a:srgbClr val="FFF2CC"/>
                        </a:gs>
                        <a:gs pos="51000">
                          <a:srgbClr val="FFFAE9"/>
                        </a:gs>
                        <a:gs pos="100000">
                          <a:srgbClr val="D0E0E3"/>
                        </a:gs>
                      </a:gsLst>
                      <a:lin ang="18900732" scaled="0"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Native 6b 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Native 3b</a:t>
                      </a:r>
                      <a:endParaRPr/>
                    </a:p>
                  </a:txBody>
                  <a:tcPr marT="91425" marB="91425" marR="91425" marL="91425">
                    <a:gradFill>
                      <a:gsLst>
                        <a:gs pos="0">
                          <a:srgbClr val="FFF2CC"/>
                        </a:gs>
                        <a:gs pos="51000">
                          <a:srgbClr val="FFFAE9"/>
                        </a:gs>
                        <a:gs pos="100000">
                          <a:srgbClr val="D0E0E3"/>
                        </a:gs>
                      </a:gsLst>
                      <a:lin ang="18900732" scaled="0"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Native 7b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</a:tr>
              <a:tr h="396200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/>
                        <a:t>2x Non-Native 3</a:t>
                      </a:r>
                      <a:endParaRPr i="1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FFF2CC"/>
                        </a:gs>
                        <a:gs pos="51000">
                          <a:srgbClr val="FFFAE9"/>
                        </a:gs>
                        <a:gs pos="100000">
                          <a:srgbClr val="D0E0E3"/>
                        </a:gs>
                      </a:gsLst>
                      <a:lin ang="18900732" scaled="0"/>
                    </a:gra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solidFill>
                            <a:schemeClr val="dk1"/>
                          </a:solidFill>
                        </a:rPr>
                        <a:t>2x Non-Native 3</a:t>
                      </a:r>
                      <a:endParaRPr i="1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FFF2CC"/>
                        </a:gs>
                        <a:gs pos="51000">
                          <a:srgbClr val="FFFAE9"/>
                        </a:gs>
                        <a:gs pos="100000">
                          <a:srgbClr val="D0E0E3"/>
                        </a:gs>
                      </a:gsLst>
                      <a:lin ang="18900732" scaled="0"/>
                    </a:gra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solidFill>
                            <a:schemeClr val="dk1"/>
                          </a:solidFill>
                        </a:rPr>
                        <a:t>2x Non-Native 3</a:t>
                      </a:r>
                      <a:endParaRPr i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FFF2CC"/>
                        </a:gs>
                        <a:gs pos="51000">
                          <a:srgbClr val="FFFAE9"/>
                        </a:gs>
                        <a:gs pos="100000">
                          <a:srgbClr val="D0E0E3"/>
                        </a:gs>
                      </a:gsLst>
                      <a:lin ang="18900732" scaled="0"/>
                    </a:gradFill>
                  </a:tcPr>
                </a:tc>
                <a:tc hMerge="1"/>
              </a:tr>
              <a:tr h="396200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solidFill>
                            <a:schemeClr val="dk1"/>
                          </a:solidFill>
                        </a:rPr>
                        <a:t>2x Non-Native 3</a:t>
                      </a:r>
                      <a:endParaRPr i="1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FFF2CC"/>
                        </a:gs>
                        <a:gs pos="51000">
                          <a:srgbClr val="FFFAE9"/>
                        </a:gs>
                        <a:gs pos="100000">
                          <a:srgbClr val="D0E0E3"/>
                        </a:gs>
                      </a:gsLst>
                      <a:lin ang="18900732" scaled="0"/>
                    </a:gra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solidFill>
                            <a:schemeClr val="dk1"/>
                          </a:solidFill>
                        </a:rPr>
                        <a:t>2x Non-Native 3</a:t>
                      </a:r>
                      <a:endParaRPr i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FFF2CC"/>
                        </a:gs>
                        <a:gs pos="51000">
                          <a:srgbClr val="FFFAE9"/>
                        </a:gs>
                        <a:gs pos="100000">
                          <a:srgbClr val="D0E0E3"/>
                        </a:gs>
                      </a:gsLst>
                      <a:lin ang="18900732" scaled="0"/>
                    </a:gra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solidFill>
                            <a:schemeClr val="dk1"/>
                          </a:solidFill>
                        </a:rPr>
                        <a:t>2x Non-Native 3</a:t>
                      </a:r>
                      <a:endParaRPr i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FFF2CC"/>
                        </a:gs>
                        <a:gs pos="51000">
                          <a:srgbClr val="FFFAE9"/>
                        </a:gs>
                        <a:gs pos="100000">
                          <a:srgbClr val="D0E0E3"/>
                        </a:gs>
                      </a:gsLst>
                      <a:lin ang="18900732" scaled="0"/>
                    </a:gradFill>
                  </a:tcPr>
                </a:tc>
                <a:tc hMerge="1"/>
              </a:tr>
              <a:tr h="802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STOP X 4 (Native 2b/3b/4b)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FFF2CC"/>
                        </a:gs>
                        <a:gs pos="51000">
                          <a:srgbClr val="FFFAE9"/>
                        </a:gs>
                        <a:gs pos="100000">
                          <a:srgbClr val="D0E0E3"/>
                        </a:gs>
                      </a:gsLst>
                      <a:lin ang="18900732" scaled="0"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STOP x4 (Native 5b/6b/7b)</a:t>
                      </a:r>
                      <a:endParaRPr i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solidFill>
                            <a:schemeClr val="dk1"/>
                          </a:solidFill>
                        </a:rPr>
                        <a:t>STOP X 4 (Non-native 3)</a:t>
                      </a:r>
                      <a:endParaRPr i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FFF2CC"/>
                        </a:gs>
                        <a:gs pos="51000">
                          <a:srgbClr val="FFFAE9"/>
                        </a:gs>
                        <a:gs pos="100000">
                          <a:srgbClr val="D0E0E3"/>
                        </a:gs>
                      </a:gsLst>
                      <a:lin ang="18900732" scaled="0"/>
                    </a:gra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solidFill>
                            <a:schemeClr val="dk1"/>
                          </a:solidFill>
                        </a:rPr>
                        <a:t>STOP X 4 </a:t>
                      </a:r>
                      <a:br>
                        <a:rPr i="1" lang="en">
                          <a:solidFill>
                            <a:schemeClr val="dk1"/>
                          </a:solidFill>
                        </a:rPr>
                      </a:br>
                      <a:r>
                        <a:rPr i="1" lang="en">
                          <a:solidFill>
                            <a:schemeClr val="dk1"/>
                          </a:solidFill>
                        </a:rPr>
                        <a:t>(Non-native 3)</a:t>
                      </a:r>
                      <a:endParaRPr i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FFF2CC"/>
                        </a:gs>
                        <a:gs pos="51000">
                          <a:srgbClr val="FFFAE9"/>
                        </a:gs>
                        <a:gs pos="100000">
                          <a:srgbClr val="D0E0E3"/>
                        </a:gs>
                      </a:gsLst>
                      <a:lin ang="18900732" scaled="0"/>
                    </a:gradFill>
                  </a:tcPr>
                </a:tc>
                <a:tc hMerge="1"/>
              </a:tr>
            </a:tbl>
          </a:graphicData>
        </a:graphic>
      </p:graphicFrame>
      <p:cxnSp>
        <p:nvCxnSpPr>
          <p:cNvPr id="84" name="Google Shape;84;p14"/>
          <p:cNvCxnSpPr/>
          <p:nvPr/>
        </p:nvCxnSpPr>
        <p:spPr>
          <a:xfrm flipH="1" rot="10800000">
            <a:off x="4999475" y="1624075"/>
            <a:ext cx="9000" cy="749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85" name="Google Shape;85;p14"/>
          <p:cNvSpPr txBox="1"/>
          <p:nvPr>
            <p:ph type="title"/>
          </p:nvPr>
        </p:nvSpPr>
        <p:spPr>
          <a:xfrm>
            <a:off x="196225" y="6724275"/>
            <a:ext cx="2244600" cy="706500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520">
                <a:solidFill>
                  <a:srgbClr val="434343"/>
                </a:solidFill>
              </a:rPr>
              <a:t>Full-width cell = 4 trials</a:t>
            </a:r>
            <a:endParaRPr sz="1520">
              <a:solidFill>
                <a:srgbClr val="43434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520">
                <a:solidFill>
                  <a:srgbClr val="434343"/>
                </a:solidFill>
              </a:rPr>
              <a:t>Half-width cell = 2 trials</a:t>
            </a:r>
            <a:endParaRPr sz="152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