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3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>
        <p:scale>
          <a:sx n="176" d="100"/>
          <a:sy n="176" d="100"/>
        </p:scale>
        <p:origin x="344" y="-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30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0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5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44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33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7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7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9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5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0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71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ED537-88B5-914E-BD2E-8C42E2959DE4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E803C-3E66-8744-AFDE-632AB250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0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567D51-F8EB-F841-A3D0-3593B35616AE}"/>
              </a:ext>
            </a:extLst>
          </p:cNvPr>
          <p:cNvSpPr/>
          <p:nvPr/>
        </p:nvSpPr>
        <p:spPr>
          <a:xfrm>
            <a:off x="1567771" y="4028820"/>
            <a:ext cx="413862" cy="1976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3A9C81-81EC-E74D-B9E0-285936576692}"/>
              </a:ext>
            </a:extLst>
          </p:cNvPr>
          <p:cNvSpPr/>
          <p:nvPr/>
        </p:nvSpPr>
        <p:spPr>
          <a:xfrm>
            <a:off x="2012945" y="4027623"/>
            <a:ext cx="461056" cy="1988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B2E94-CC84-0E40-9A3C-786A1B1EEB4C}"/>
              </a:ext>
            </a:extLst>
          </p:cNvPr>
          <p:cNvSpPr txBox="1"/>
          <p:nvPr/>
        </p:nvSpPr>
        <p:spPr>
          <a:xfrm>
            <a:off x="1010073" y="4637019"/>
            <a:ext cx="4748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Beep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C3B1D-A3A6-394A-BFAD-30A9822A420D}"/>
              </a:ext>
            </a:extLst>
          </p:cNvPr>
          <p:cNvSpPr txBox="1"/>
          <p:nvPr/>
        </p:nvSpPr>
        <p:spPr>
          <a:xfrm>
            <a:off x="935394" y="4882915"/>
            <a:ext cx="6511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Syllable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511FB5-E335-3446-8505-C6C57622EC69}"/>
              </a:ext>
            </a:extLst>
          </p:cNvPr>
          <p:cNvSpPr txBox="1"/>
          <p:nvPr/>
        </p:nvSpPr>
        <p:spPr>
          <a:xfrm>
            <a:off x="755545" y="5437185"/>
            <a:ext cx="803215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Produced </a:t>
            </a:r>
          </a:p>
          <a:p>
            <a:pPr algn="ctr"/>
            <a:r>
              <a:rPr lang="en-US" sz="1100" dirty="0"/>
              <a:t>Speech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94766-5A16-514F-89E3-752B85E7D5CB}"/>
              </a:ext>
            </a:extLst>
          </p:cNvPr>
          <p:cNvSpPr txBox="1"/>
          <p:nvPr/>
        </p:nvSpPr>
        <p:spPr>
          <a:xfrm>
            <a:off x="576820" y="4004713"/>
            <a:ext cx="9076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Visual Stim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6A8B2-EFCD-C444-A1B9-2D2B950FC8DC}"/>
              </a:ext>
            </a:extLst>
          </p:cNvPr>
          <p:cNvSpPr txBox="1"/>
          <p:nvPr/>
        </p:nvSpPr>
        <p:spPr>
          <a:xfrm>
            <a:off x="421981" y="3466068"/>
            <a:ext cx="12215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Experimenter keypress</a:t>
            </a:r>
          </a:p>
        </p:txBody>
      </p:sp>
      <p:sp>
        <p:nvSpPr>
          <p:cNvPr id="62" name="Pentagon 61">
            <a:extLst>
              <a:ext uri="{FF2B5EF4-FFF2-40B4-BE49-F238E27FC236}">
                <a16:creationId xmlns:a16="http://schemas.microsoft.com/office/drawing/2014/main" id="{1EE0662E-24F7-B343-B42E-84323E497C6E}"/>
              </a:ext>
            </a:extLst>
          </p:cNvPr>
          <p:cNvSpPr/>
          <p:nvPr/>
        </p:nvSpPr>
        <p:spPr>
          <a:xfrm rot="5400000">
            <a:off x="1607257" y="3682259"/>
            <a:ext cx="216367" cy="92729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9C42309-D2D1-DA48-899B-BB51040832D5}"/>
              </a:ext>
            </a:extLst>
          </p:cNvPr>
          <p:cNvCxnSpPr>
            <a:cxnSpLocks/>
          </p:cNvCxnSpPr>
          <p:nvPr/>
        </p:nvCxnSpPr>
        <p:spPr>
          <a:xfrm>
            <a:off x="1716856" y="3372467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C543E36-F732-A74C-8432-3CA3DA780E6E}"/>
              </a:ext>
            </a:extLst>
          </p:cNvPr>
          <p:cNvCxnSpPr>
            <a:cxnSpLocks/>
          </p:cNvCxnSpPr>
          <p:nvPr/>
        </p:nvCxnSpPr>
        <p:spPr>
          <a:xfrm>
            <a:off x="3634536" y="3325227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CCF71D8-940A-F542-9F53-A212B0367718}"/>
              </a:ext>
            </a:extLst>
          </p:cNvPr>
          <p:cNvSpPr txBox="1"/>
          <p:nvPr/>
        </p:nvSpPr>
        <p:spPr>
          <a:xfrm>
            <a:off x="1733652" y="2218496"/>
            <a:ext cx="1016625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Visual Stim Duration</a:t>
            </a:r>
          </a:p>
          <a:p>
            <a:pPr algn="ctr"/>
            <a:r>
              <a:rPr lang="en-US" sz="788" dirty="0"/>
              <a:t>1.45s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C8281A-2054-1A45-BEF8-6F1E01AF2BF2}"/>
              </a:ext>
            </a:extLst>
          </p:cNvPr>
          <p:cNvSpPr txBox="1"/>
          <p:nvPr/>
        </p:nvSpPr>
        <p:spPr>
          <a:xfrm>
            <a:off x="1649719" y="3075088"/>
            <a:ext cx="437940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Cross</a:t>
            </a:r>
          </a:p>
          <a:p>
            <a:pPr algn="ctr"/>
            <a:r>
              <a:rPr lang="en-US" sz="788" dirty="0"/>
              <a:t>1s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91694E-6F9A-2747-BC87-19A45F6EFC22}"/>
              </a:ext>
            </a:extLst>
          </p:cNvPr>
          <p:cNvSpPr/>
          <p:nvPr/>
        </p:nvSpPr>
        <p:spPr>
          <a:xfrm>
            <a:off x="1986378" y="4027622"/>
            <a:ext cx="533345" cy="2000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"/>
            <a:r>
              <a:rPr lang="en-US" sz="700" dirty="0">
                <a:solidFill>
                  <a:schemeClr val="bg1"/>
                </a:solidFill>
              </a:rPr>
              <a:t>CCVC</a:t>
            </a:r>
            <a:endParaRPr lang="en-US" sz="7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3A7AD-5A77-B443-AAAA-E8F14C970B7A}"/>
              </a:ext>
            </a:extLst>
          </p:cNvPr>
          <p:cNvSpPr/>
          <p:nvPr/>
        </p:nvSpPr>
        <p:spPr>
          <a:xfrm>
            <a:off x="4412479" y="4019927"/>
            <a:ext cx="14734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Move the garbage nearer  …</a:t>
            </a:r>
          </a:p>
        </p:txBody>
      </p:sp>
      <p:sp>
        <p:nvSpPr>
          <p:cNvPr id="75" name="Hexagon 74">
            <a:extLst>
              <a:ext uri="{FF2B5EF4-FFF2-40B4-BE49-F238E27FC236}">
                <a16:creationId xmlns:a16="http://schemas.microsoft.com/office/drawing/2014/main" id="{0AC4CD65-AE4F-974A-A845-D0F986539793}"/>
              </a:ext>
            </a:extLst>
          </p:cNvPr>
          <p:cNvSpPr/>
          <p:nvPr/>
        </p:nvSpPr>
        <p:spPr bwMode="auto">
          <a:xfrm>
            <a:off x="2117379" y="4905980"/>
            <a:ext cx="218541" cy="172413"/>
          </a:xfrm>
          <a:prstGeom prst="hexagon">
            <a:avLst/>
          </a:prstGeom>
          <a:solidFill>
            <a:schemeClr val="accent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sp>
        <p:nvSpPr>
          <p:cNvPr id="76" name="Hexagon 75">
            <a:extLst>
              <a:ext uri="{FF2B5EF4-FFF2-40B4-BE49-F238E27FC236}">
                <a16:creationId xmlns:a16="http://schemas.microsoft.com/office/drawing/2014/main" id="{EB1E4E8E-B91E-6642-B72D-2A610F164B58}"/>
              </a:ext>
            </a:extLst>
          </p:cNvPr>
          <p:cNvSpPr/>
          <p:nvPr/>
        </p:nvSpPr>
        <p:spPr bwMode="auto">
          <a:xfrm>
            <a:off x="3181376" y="5537270"/>
            <a:ext cx="300597" cy="172411"/>
          </a:xfrm>
          <a:prstGeom prst="hexagon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23FB499-310C-104D-81FA-F51EBE369F94}"/>
              </a:ext>
            </a:extLst>
          </p:cNvPr>
          <p:cNvCxnSpPr>
            <a:cxnSpLocks/>
          </p:cNvCxnSpPr>
          <p:nvPr/>
        </p:nvCxnSpPr>
        <p:spPr>
          <a:xfrm>
            <a:off x="3052987" y="3358431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FBE2141-D5E1-3C46-84BD-CAB3A309D413}"/>
              </a:ext>
            </a:extLst>
          </p:cNvPr>
          <p:cNvCxnSpPr>
            <a:cxnSpLocks/>
          </p:cNvCxnSpPr>
          <p:nvPr/>
        </p:nvCxnSpPr>
        <p:spPr>
          <a:xfrm>
            <a:off x="2491536" y="3365502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C0615FC-E99F-ED42-94AC-09F0921A1B87}"/>
              </a:ext>
            </a:extLst>
          </p:cNvPr>
          <p:cNvCxnSpPr>
            <a:cxnSpLocks/>
          </p:cNvCxnSpPr>
          <p:nvPr/>
        </p:nvCxnSpPr>
        <p:spPr>
          <a:xfrm>
            <a:off x="2000022" y="3349974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29CE505-A65C-3146-AF60-77D77B0F2DD5}"/>
              </a:ext>
            </a:extLst>
          </p:cNvPr>
          <p:cNvSpPr txBox="1"/>
          <p:nvPr/>
        </p:nvSpPr>
        <p:spPr>
          <a:xfrm>
            <a:off x="2501489" y="3091069"/>
            <a:ext cx="514885" cy="456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Prompt </a:t>
            </a:r>
          </a:p>
          <a:p>
            <a:pPr algn="ctr"/>
            <a:r>
              <a:rPr lang="en-US" sz="788" dirty="0"/>
              <a:t>delay </a:t>
            </a:r>
          </a:p>
          <a:p>
            <a:pPr algn="ctr"/>
            <a:r>
              <a:rPr lang="en-US" sz="788" dirty="0"/>
              <a:t>0.5-1s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D52C70-CA0F-FB48-AAAE-75953BB06CA9}"/>
              </a:ext>
            </a:extLst>
          </p:cNvPr>
          <p:cNvCxnSpPr>
            <a:cxnSpLocks/>
          </p:cNvCxnSpPr>
          <p:nvPr/>
        </p:nvCxnSpPr>
        <p:spPr bwMode="auto">
          <a:xfrm>
            <a:off x="1663275" y="4992186"/>
            <a:ext cx="713065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A8F4C47-CA6C-894C-A4F8-B8F6DBFD325A}"/>
              </a:ext>
            </a:extLst>
          </p:cNvPr>
          <p:cNvCxnSpPr>
            <a:cxnSpLocks/>
          </p:cNvCxnSpPr>
          <p:nvPr/>
        </p:nvCxnSpPr>
        <p:spPr bwMode="auto">
          <a:xfrm>
            <a:off x="1653336" y="5623475"/>
            <a:ext cx="713065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9169194-A3C8-CD45-B3D6-F006B92CB1EF}"/>
              </a:ext>
            </a:extLst>
          </p:cNvPr>
          <p:cNvCxnSpPr>
            <a:cxnSpLocks/>
          </p:cNvCxnSpPr>
          <p:nvPr/>
        </p:nvCxnSpPr>
        <p:spPr bwMode="auto">
          <a:xfrm>
            <a:off x="1636127" y="3728623"/>
            <a:ext cx="7147867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65B2DB-F783-1D46-B7C1-424412953FE5}"/>
              </a:ext>
            </a:extLst>
          </p:cNvPr>
          <p:cNvCxnSpPr>
            <a:cxnSpLocks/>
          </p:cNvCxnSpPr>
          <p:nvPr/>
        </p:nvCxnSpPr>
        <p:spPr bwMode="auto">
          <a:xfrm>
            <a:off x="3041804" y="5807846"/>
            <a:ext cx="151470" cy="0"/>
          </a:xfrm>
          <a:prstGeom prst="line">
            <a:avLst/>
          </a:prstGeom>
          <a:ln w="9525" cap="rnd" cmpd="sng" algn="ctr">
            <a:solidFill>
              <a:srgbClr val="C00000"/>
            </a:solidFill>
            <a:prstDash val="solid"/>
            <a:miter lim="800000"/>
            <a:headEnd type="arrow" w="sm" len="sm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4549E2E-DF2E-DF4E-883A-09B7F5871CBB}"/>
              </a:ext>
            </a:extLst>
          </p:cNvPr>
          <p:cNvSpPr txBox="1"/>
          <p:nvPr/>
        </p:nvSpPr>
        <p:spPr>
          <a:xfrm>
            <a:off x="2932799" y="5883736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RT1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97E6FB2-597B-7F4B-B714-2721028800EE}"/>
              </a:ext>
            </a:extLst>
          </p:cNvPr>
          <p:cNvSpPr txBox="1"/>
          <p:nvPr/>
        </p:nvSpPr>
        <p:spPr>
          <a:xfrm>
            <a:off x="1008157" y="239433"/>
            <a:ext cx="4869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Timing for Speech Motor Sequence Learning Task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97AE446-CCB2-AD4C-98DE-45F230C872C8}"/>
              </a:ext>
            </a:extLst>
          </p:cNvPr>
          <p:cNvGrpSpPr/>
          <p:nvPr/>
        </p:nvGrpSpPr>
        <p:grpSpPr>
          <a:xfrm>
            <a:off x="152400" y="65662"/>
            <a:ext cx="732883" cy="673755"/>
            <a:chOff x="3962400" y="4951889"/>
            <a:chExt cx="732883" cy="673755"/>
          </a:xfrm>
        </p:grpSpPr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2858AB4F-971B-CE44-9427-671E6D6B8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62400" y="4951889"/>
              <a:ext cx="670560" cy="670560"/>
            </a:xfrm>
            <a:prstGeom prst="rect">
              <a:avLst/>
            </a:prstGeom>
          </p:spPr>
        </p:pic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935FF60-D295-3346-8E70-036FFC8281C6}"/>
                </a:ext>
              </a:extLst>
            </p:cNvPr>
            <p:cNvSpPr/>
            <p:nvPr/>
          </p:nvSpPr>
          <p:spPr bwMode="auto">
            <a:xfrm>
              <a:off x="4331018" y="5410201"/>
              <a:ext cx="282575" cy="212248"/>
            </a:xfrm>
            <a:prstGeom prst="rect">
              <a:avLst/>
            </a:prstGeom>
            <a:solidFill>
              <a:srgbClr val="B1B0A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112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6FFD990-149C-144F-9A12-2ECD125D1275}"/>
                </a:ext>
              </a:extLst>
            </p:cNvPr>
            <p:cNvSpPr txBox="1"/>
            <p:nvPr/>
          </p:nvSpPr>
          <p:spPr>
            <a:xfrm>
              <a:off x="4249327" y="5410200"/>
              <a:ext cx="44595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accent2">
                      <a:lumMod val="50000"/>
                    </a:schemeClr>
                  </a:solidFill>
                </a:rPr>
                <a:t>MGH</a:t>
              </a: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D210037-6A70-4041-8A85-CF7967877438}"/>
              </a:ext>
            </a:extLst>
          </p:cNvPr>
          <p:cNvCxnSpPr>
            <a:cxnSpLocks/>
          </p:cNvCxnSpPr>
          <p:nvPr/>
        </p:nvCxnSpPr>
        <p:spPr bwMode="auto">
          <a:xfrm>
            <a:off x="1655356" y="4734595"/>
            <a:ext cx="712863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34AE77B-741B-3141-BF83-C5101CCA633F}"/>
              </a:ext>
            </a:extLst>
          </p:cNvPr>
          <p:cNvSpPr txBox="1"/>
          <p:nvPr/>
        </p:nvSpPr>
        <p:spPr>
          <a:xfrm>
            <a:off x="971686" y="5136831"/>
            <a:ext cx="5998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Buzzer</a:t>
            </a:r>
          </a:p>
        </p:txBody>
      </p:sp>
      <p:sp>
        <p:nvSpPr>
          <p:cNvPr id="98" name="Hexagon 97">
            <a:extLst>
              <a:ext uri="{FF2B5EF4-FFF2-40B4-BE49-F238E27FC236}">
                <a16:creationId xmlns:a16="http://schemas.microsoft.com/office/drawing/2014/main" id="{4DA0971A-C073-FC48-B0BA-D715E9E940EA}"/>
              </a:ext>
            </a:extLst>
          </p:cNvPr>
          <p:cNvSpPr/>
          <p:nvPr/>
        </p:nvSpPr>
        <p:spPr bwMode="auto">
          <a:xfrm>
            <a:off x="3028677" y="4648390"/>
            <a:ext cx="62453" cy="172411"/>
          </a:xfrm>
          <a:prstGeom prst="hexagon">
            <a:avLst/>
          </a:prstGeom>
          <a:solidFill>
            <a:schemeClr val="accent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BB2FA48-361D-864D-96CA-5E9C2F0A0FE1}"/>
              </a:ext>
            </a:extLst>
          </p:cNvPr>
          <p:cNvSpPr/>
          <p:nvPr/>
        </p:nvSpPr>
        <p:spPr>
          <a:xfrm>
            <a:off x="3663339" y="4028448"/>
            <a:ext cx="802369" cy="196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36F6E98-314A-6C49-936A-1B513D144140}"/>
              </a:ext>
            </a:extLst>
          </p:cNvPr>
          <p:cNvSpPr/>
          <p:nvPr/>
        </p:nvSpPr>
        <p:spPr>
          <a:xfrm>
            <a:off x="3785912" y="4035490"/>
            <a:ext cx="533345" cy="2000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"/>
            <a:r>
              <a:rPr lang="en-US" sz="700" dirty="0">
                <a:solidFill>
                  <a:schemeClr val="bg1"/>
                </a:solidFill>
              </a:rPr>
              <a:t>CCVC</a:t>
            </a:r>
            <a:endParaRPr lang="en-US" sz="7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07" name="Pentagon 106">
            <a:extLst>
              <a:ext uri="{FF2B5EF4-FFF2-40B4-BE49-F238E27FC236}">
                <a16:creationId xmlns:a16="http://schemas.microsoft.com/office/drawing/2014/main" id="{6EF99F8C-0EB6-B64E-A054-7B8FABE455D0}"/>
              </a:ext>
            </a:extLst>
          </p:cNvPr>
          <p:cNvSpPr/>
          <p:nvPr/>
        </p:nvSpPr>
        <p:spPr>
          <a:xfrm rot="5400000">
            <a:off x="3522491" y="3686077"/>
            <a:ext cx="216367" cy="92729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5EB159D-CEAB-3644-AE14-36E6BE8C1E60}"/>
              </a:ext>
            </a:extLst>
          </p:cNvPr>
          <p:cNvCxnSpPr>
            <a:cxnSpLocks/>
          </p:cNvCxnSpPr>
          <p:nvPr/>
        </p:nvCxnSpPr>
        <p:spPr>
          <a:xfrm>
            <a:off x="5625847" y="3294052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Hexagon 111">
            <a:extLst>
              <a:ext uri="{FF2B5EF4-FFF2-40B4-BE49-F238E27FC236}">
                <a16:creationId xmlns:a16="http://schemas.microsoft.com/office/drawing/2014/main" id="{4443CE2D-0336-D84E-B476-F5F86B5D20BF}"/>
              </a:ext>
            </a:extLst>
          </p:cNvPr>
          <p:cNvSpPr/>
          <p:nvPr/>
        </p:nvSpPr>
        <p:spPr bwMode="auto">
          <a:xfrm>
            <a:off x="3816040" y="4904790"/>
            <a:ext cx="218541" cy="172413"/>
          </a:xfrm>
          <a:prstGeom prst="hexagon">
            <a:avLst/>
          </a:prstGeom>
          <a:solidFill>
            <a:schemeClr val="accent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sp>
        <p:nvSpPr>
          <p:cNvPr id="113" name="Hexagon 112">
            <a:extLst>
              <a:ext uri="{FF2B5EF4-FFF2-40B4-BE49-F238E27FC236}">
                <a16:creationId xmlns:a16="http://schemas.microsoft.com/office/drawing/2014/main" id="{8405AF68-C814-DC4B-A2AB-DAF06681D4C7}"/>
              </a:ext>
            </a:extLst>
          </p:cNvPr>
          <p:cNvSpPr/>
          <p:nvPr/>
        </p:nvSpPr>
        <p:spPr bwMode="auto">
          <a:xfrm>
            <a:off x="5172687" y="5537270"/>
            <a:ext cx="300597" cy="172411"/>
          </a:xfrm>
          <a:prstGeom prst="hexagon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AE90614-6F8C-0F45-9E84-3C50A7593EC6}"/>
              </a:ext>
            </a:extLst>
          </p:cNvPr>
          <p:cNvCxnSpPr>
            <a:cxnSpLocks/>
          </p:cNvCxnSpPr>
          <p:nvPr/>
        </p:nvCxnSpPr>
        <p:spPr>
          <a:xfrm>
            <a:off x="5044298" y="3327256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B273618-19E2-3D4D-973E-918FAE678FF2}"/>
              </a:ext>
            </a:extLst>
          </p:cNvPr>
          <p:cNvCxnSpPr>
            <a:cxnSpLocks/>
          </p:cNvCxnSpPr>
          <p:nvPr/>
        </p:nvCxnSpPr>
        <p:spPr>
          <a:xfrm>
            <a:off x="4482847" y="3334327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Hexagon 156">
            <a:extLst>
              <a:ext uri="{FF2B5EF4-FFF2-40B4-BE49-F238E27FC236}">
                <a16:creationId xmlns:a16="http://schemas.microsoft.com/office/drawing/2014/main" id="{7FF4A958-7F40-664F-842F-38D5CCAB988A}"/>
              </a:ext>
            </a:extLst>
          </p:cNvPr>
          <p:cNvSpPr/>
          <p:nvPr/>
        </p:nvSpPr>
        <p:spPr bwMode="auto">
          <a:xfrm>
            <a:off x="5019988" y="4648390"/>
            <a:ext cx="62453" cy="172411"/>
          </a:xfrm>
          <a:prstGeom prst="hexagon">
            <a:avLst/>
          </a:prstGeom>
          <a:solidFill>
            <a:schemeClr val="accent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5BAA637-6FF9-C948-B14D-F716B22290DE}"/>
              </a:ext>
            </a:extLst>
          </p:cNvPr>
          <p:cNvSpPr/>
          <p:nvPr/>
        </p:nvSpPr>
        <p:spPr>
          <a:xfrm>
            <a:off x="2509911" y="4028821"/>
            <a:ext cx="1133031" cy="1965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B4C3F48-D5A1-AB4F-897B-7BA1EE97B22C}"/>
              </a:ext>
            </a:extLst>
          </p:cNvPr>
          <p:cNvSpPr/>
          <p:nvPr/>
        </p:nvSpPr>
        <p:spPr>
          <a:xfrm>
            <a:off x="4493425" y="4028820"/>
            <a:ext cx="1121845" cy="2036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E22B3E8-CECD-894B-AF5A-A6A2DE86B6C6}"/>
              </a:ext>
            </a:extLst>
          </p:cNvPr>
          <p:cNvCxnSpPr>
            <a:cxnSpLocks/>
          </p:cNvCxnSpPr>
          <p:nvPr/>
        </p:nvCxnSpPr>
        <p:spPr bwMode="auto">
          <a:xfrm>
            <a:off x="2007713" y="6049701"/>
            <a:ext cx="199000" cy="0"/>
          </a:xfrm>
          <a:prstGeom prst="line">
            <a:avLst/>
          </a:prstGeom>
          <a:ln w="9525" cap="rnd" cmpd="sng" algn="ctr">
            <a:solidFill>
              <a:srgbClr val="C00000"/>
            </a:solidFill>
            <a:prstDash val="solid"/>
            <a:miter lim="800000"/>
            <a:headEnd type="arrow" w="sm" len="sm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0BC9A66-36EB-D546-BFC5-F80DD5155240}"/>
              </a:ext>
            </a:extLst>
          </p:cNvPr>
          <p:cNvSpPr txBox="1"/>
          <p:nvPr/>
        </p:nvSpPr>
        <p:spPr>
          <a:xfrm>
            <a:off x="1804988" y="6070602"/>
            <a:ext cx="6317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C00000"/>
                </a:solidFill>
              </a:rPr>
              <a:t>Syllable duration 0.5s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1BD5B52-EDFA-FD4E-8F18-565F94332D58}"/>
              </a:ext>
            </a:extLst>
          </p:cNvPr>
          <p:cNvSpPr/>
          <p:nvPr/>
        </p:nvSpPr>
        <p:spPr>
          <a:xfrm>
            <a:off x="5635321" y="4028447"/>
            <a:ext cx="779390" cy="196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0D34DAF-9DBA-4640-99D0-997D1D081250}"/>
              </a:ext>
            </a:extLst>
          </p:cNvPr>
          <p:cNvSpPr/>
          <p:nvPr/>
        </p:nvSpPr>
        <p:spPr>
          <a:xfrm>
            <a:off x="5957613" y="4026880"/>
            <a:ext cx="533345" cy="2000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"/>
            <a:r>
              <a:rPr lang="en-US" sz="700" dirty="0">
                <a:solidFill>
                  <a:schemeClr val="bg1"/>
                </a:solidFill>
              </a:rPr>
              <a:t>CCVC</a:t>
            </a:r>
            <a:endParaRPr lang="en-US" sz="7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71" name="Pentagon 170">
            <a:extLst>
              <a:ext uri="{FF2B5EF4-FFF2-40B4-BE49-F238E27FC236}">
                <a16:creationId xmlns:a16="http://schemas.microsoft.com/office/drawing/2014/main" id="{7CAC2680-9E9D-1E4B-B96B-B72F35B5549C}"/>
              </a:ext>
            </a:extLst>
          </p:cNvPr>
          <p:cNvSpPr/>
          <p:nvPr/>
        </p:nvSpPr>
        <p:spPr>
          <a:xfrm rot="5400000">
            <a:off x="5521232" y="3686731"/>
            <a:ext cx="216367" cy="92729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9AB8C54A-3ECD-7E47-99D3-9BBE30EA88AC}"/>
              </a:ext>
            </a:extLst>
          </p:cNvPr>
          <p:cNvCxnSpPr>
            <a:cxnSpLocks/>
          </p:cNvCxnSpPr>
          <p:nvPr/>
        </p:nvCxnSpPr>
        <p:spPr>
          <a:xfrm>
            <a:off x="7612733" y="3258248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Hexagon 174">
            <a:extLst>
              <a:ext uri="{FF2B5EF4-FFF2-40B4-BE49-F238E27FC236}">
                <a16:creationId xmlns:a16="http://schemas.microsoft.com/office/drawing/2014/main" id="{FC7A627C-76B9-574E-BE10-0949EDA6DFAA}"/>
              </a:ext>
            </a:extLst>
          </p:cNvPr>
          <p:cNvSpPr/>
          <p:nvPr/>
        </p:nvSpPr>
        <p:spPr bwMode="auto">
          <a:xfrm>
            <a:off x="5857953" y="4910865"/>
            <a:ext cx="218541" cy="172413"/>
          </a:xfrm>
          <a:prstGeom prst="hexagon">
            <a:avLst/>
          </a:prstGeom>
          <a:solidFill>
            <a:schemeClr val="accent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CC45F7B4-671A-2745-B097-EA9A0BF4C878}"/>
              </a:ext>
            </a:extLst>
          </p:cNvPr>
          <p:cNvCxnSpPr>
            <a:cxnSpLocks/>
          </p:cNvCxnSpPr>
          <p:nvPr/>
        </p:nvCxnSpPr>
        <p:spPr>
          <a:xfrm>
            <a:off x="7031184" y="3291452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D54F62F-9111-6E4B-8FA3-50AFE81F8B38}"/>
              </a:ext>
            </a:extLst>
          </p:cNvPr>
          <p:cNvCxnSpPr>
            <a:cxnSpLocks/>
          </p:cNvCxnSpPr>
          <p:nvPr/>
        </p:nvCxnSpPr>
        <p:spPr>
          <a:xfrm>
            <a:off x="6469733" y="3298523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D136534F-06BF-0D48-8D35-4DEE12E51986}"/>
              </a:ext>
            </a:extLst>
          </p:cNvPr>
          <p:cNvCxnSpPr>
            <a:cxnSpLocks/>
          </p:cNvCxnSpPr>
          <p:nvPr/>
        </p:nvCxnSpPr>
        <p:spPr>
          <a:xfrm>
            <a:off x="7961660" y="3264235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DCD89995-8E62-8340-8983-6B316D13C0DF}"/>
              </a:ext>
            </a:extLst>
          </p:cNvPr>
          <p:cNvSpPr txBox="1"/>
          <p:nvPr/>
        </p:nvSpPr>
        <p:spPr>
          <a:xfrm>
            <a:off x="6941180" y="5835654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RT1</a:t>
            </a:r>
          </a:p>
        </p:txBody>
      </p:sp>
      <p:sp>
        <p:nvSpPr>
          <p:cNvPr id="187" name="Hexagon 186">
            <a:extLst>
              <a:ext uri="{FF2B5EF4-FFF2-40B4-BE49-F238E27FC236}">
                <a16:creationId xmlns:a16="http://schemas.microsoft.com/office/drawing/2014/main" id="{FD74DD4B-EFD4-1844-AE1D-F9308D8869CD}"/>
              </a:ext>
            </a:extLst>
          </p:cNvPr>
          <p:cNvSpPr/>
          <p:nvPr/>
        </p:nvSpPr>
        <p:spPr bwMode="auto">
          <a:xfrm>
            <a:off x="7006874" y="4647648"/>
            <a:ext cx="62453" cy="172411"/>
          </a:xfrm>
          <a:prstGeom prst="hexagon">
            <a:avLst/>
          </a:prstGeom>
          <a:solidFill>
            <a:schemeClr val="accent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67EEE69-39E8-D443-8EAF-EBC8DA0D4C9E}"/>
              </a:ext>
            </a:extLst>
          </p:cNvPr>
          <p:cNvSpPr/>
          <p:nvPr/>
        </p:nvSpPr>
        <p:spPr>
          <a:xfrm>
            <a:off x="6480311" y="4028078"/>
            <a:ext cx="1441597" cy="1976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6910502-1569-0047-B312-5F7A16202ACA}"/>
              </a:ext>
            </a:extLst>
          </p:cNvPr>
          <p:cNvCxnSpPr>
            <a:cxnSpLocks/>
          </p:cNvCxnSpPr>
          <p:nvPr/>
        </p:nvCxnSpPr>
        <p:spPr bwMode="auto">
          <a:xfrm>
            <a:off x="7038100" y="5770827"/>
            <a:ext cx="151470" cy="0"/>
          </a:xfrm>
          <a:prstGeom prst="line">
            <a:avLst/>
          </a:prstGeom>
          <a:ln w="9525" cap="rnd" cmpd="sng" algn="ctr">
            <a:solidFill>
              <a:srgbClr val="C00000"/>
            </a:solidFill>
            <a:prstDash val="solid"/>
            <a:miter lim="800000"/>
            <a:headEnd type="arrow" w="sm" len="sm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B12A6886-BDEB-1243-8873-13BC5BFBA5FE}"/>
              </a:ext>
            </a:extLst>
          </p:cNvPr>
          <p:cNvCxnSpPr>
            <a:cxnSpLocks/>
          </p:cNvCxnSpPr>
          <p:nvPr/>
        </p:nvCxnSpPr>
        <p:spPr bwMode="auto">
          <a:xfrm>
            <a:off x="1648277" y="5263789"/>
            <a:ext cx="712863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7" name="Hexagon 206">
            <a:extLst>
              <a:ext uri="{FF2B5EF4-FFF2-40B4-BE49-F238E27FC236}">
                <a16:creationId xmlns:a16="http://schemas.microsoft.com/office/drawing/2014/main" id="{3EE13989-F2D0-CA49-A6B9-1790E617CB0B}"/>
              </a:ext>
            </a:extLst>
          </p:cNvPr>
          <p:cNvSpPr/>
          <p:nvPr/>
        </p:nvSpPr>
        <p:spPr bwMode="auto">
          <a:xfrm>
            <a:off x="7157058" y="5166470"/>
            <a:ext cx="510695" cy="194529"/>
          </a:xfrm>
          <a:prstGeom prst="hexagon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F407ED27-BFB0-3346-B4D1-3ED0281B2517}"/>
              </a:ext>
            </a:extLst>
          </p:cNvPr>
          <p:cNvSpPr/>
          <p:nvPr/>
        </p:nvSpPr>
        <p:spPr bwMode="auto">
          <a:xfrm>
            <a:off x="859194" y="4611540"/>
            <a:ext cx="95236" cy="77920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12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8375957-B844-AF44-B932-EF7BCB12FC4B}"/>
              </a:ext>
            </a:extLst>
          </p:cNvPr>
          <p:cNvSpPr txBox="1"/>
          <p:nvPr/>
        </p:nvSpPr>
        <p:spPr>
          <a:xfrm>
            <a:off x="128844" y="4763977"/>
            <a:ext cx="8032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Stim Audio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E1ED2D3-2FE8-BD4D-9921-F6AEF933DD43}"/>
              </a:ext>
            </a:extLst>
          </p:cNvPr>
          <p:cNvSpPr txBox="1"/>
          <p:nvPr/>
        </p:nvSpPr>
        <p:spPr>
          <a:xfrm>
            <a:off x="2626356" y="3979816"/>
            <a:ext cx="288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843465A-2185-6845-9985-62186190206D}"/>
              </a:ext>
            </a:extLst>
          </p:cNvPr>
          <p:cNvSpPr txBox="1"/>
          <p:nvPr/>
        </p:nvSpPr>
        <p:spPr>
          <a:xfrm>
            <a:off x="1692772" y="3983160"/>
            <a:ext cx="288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093CFA9-002F-0042-A557-692B978FC5AF}"/>
              </a:ext>
            </a:extLst>
          </p:cNvPr>
          <p:cNvSpPr txBox="1"/>
          <p:nvPr/>
        </p:nvSpPr>
        <p:spPr>
          <a:xfrm>
            <a:off x="4611492" y="3983160"/>
            <a:ext cx="288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8D7B343-FA0A-AD4E-B2D0-5167077A6315}"/>
              </a:ext>
            </a:extLst>
          </p:cNvPr>
          <p:cNvCxnSpPr>
            <a:cxnSpLocks/>
          </p:cNvCxnSpPr>
          <p:nvPr/>
        </p:nvCxnSpPr>
        <p:spPr bwMode="auto">
          <a:xfrm>
            <a:off x="3463765" y="5795624"/>
            <a:ext cx="151470" cy="0"/>
          </a:xfrm>
          <a:prstGeom prst="line">
            <a:avLst/>
          </a:prstGeom>
          <a:ln w="9525" cap="rnd" cmpd="sng" algn="ctr">
            <a:solidFill>
              <a:srgbClr val="C00000"/>
            </a:solidFill>
            <a:prstDash val="solid"/>
            <a:miter lim="800000"/>
            <a:headEnd type="arrow" w="sm" len="sm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C99B2D2-6660-244A-B27E-F7B3B9E9D692}"/>
              </a:ext>
            </a:extLst>
          </p:cNvPr>
          <p:cNvSpPr txBox="1"/>
          <p:nvPr/>
        </p:nvSpPr>
        <p:spPr>
          <a:xfrm>
            <a:off x="3362396" y="5878925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RT2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94D9C8B-B4F6-A247-A943-144AB5C5E57F}"/>
              </a:ext>
            </a:extLst>
          </p:cNvPr>
          <p:cNvCxnSpPr>
            <a:cxnSpLocks/>
          </p:cNvCxnSpPr>
          <p:nvPr/>
        </p:nvCxnSpPr>
        <p:spPr bwMode="auto">
          <a:xfrm>
            <a:off x="5037379" y="5810062"/>
            <a:ext cx="151470" cy="0"/>
          </a:xfrm>
          <a:prstGeom prst="line">
            <a:avLst/>
          </a:prstGeom>
          <a:ln w="9525" cap="rnd" cmpd="sng" algn="ctr">
            <a:solidFill>
              <a:srgbClr val="C00000"/>
            </a:solidFill>
            <a:prstDash val="solid"/>
            <a:miter lim="800000"/>
            <a:headEnd type="arrow" w="sm" len="sm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0D09A956-7D15-A143-BC35-9D8E04278D35}"/>
              </a:ext>
            </a:extLst>
          </p:cNvPr>
          <p:cNvSpPr txBox="1"/>
          <p:nvPr/>
        </p:nvSpPr>
        <p:spPr>
          <a:xfrm>
            <a:off x="4928374" y="5885952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RT1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AECB891-9E3A-A349-81DB-25B57FFCB684}"/>
              </a:ext>
            </a:extLst>
          </p:cNvPr>
          <p:cNvCxnSpPr>
            <a:cxnSpLocks/>
          </p:cNvCxnSpPr>
          <p:nvPr/>
        </p:nvCxnSpPr>
        <p:spPr bwMode="auto">
          <a:xfrm>
            <a:off x="5459340" y="5797840"/>
            <a:ext cx="151470" cy="0"/>
          </a:xfrm>
          <a:prstGeom prst="line">
            <a:avLst/>
          </a:prstGeom>
          <a:ln w="9525" cap="rnd" cmpd="sng" algn="ctr">
            <a:solidFill>
              <a:srgbClr val="C00000"/>
            </a:solidFill>
            <a:prstDash val="solid"/>
            <a:miter lim="800000"/>
            <a:headEnd type="arrow" w="sm" len="sm"/>
            <a:tailEnd type="arrow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F8E63561-3B98-4742-B522-46DF7B52B9FF}"/>
              </a:ext>
            </a:extLst>
          </p:cNvPr>
          <p:cNvSpPr txBox="1"/>
          <p:nvPr/>
        </p:nvSpPr>
        <p:spPr>
          <a:xfrm>
            <a:off x="5357971" y="5881141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RT2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DCE6911-222D-9E43-A94E-A94B10F6C30E}"/>
              </a:ext>
            </a:extLst>
          </p:cNvPr>
          <p:cNvSpPr txBox="1"/>
          <p:nvPr/>
        </p:nvSpPr>
        <p:spPr>
          <a:xfrm>
            <a:off x="6602708" y="3979125"/>
            <a:ext cx="288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34" name="Pentagon 133">
            <a:extLst>
              <a:ext uri="{FF2B5EF4-FFF2-40B4-BE49-F238E27FC236}">
                <a16:creationId xmlns:a16="http://schemas.microsoft.com/office/drawing/2014/main" id="{D668B513-3AB8-9641-8EA0-428EDDC93386}"/>
              </a:ext>
            </a:extLst>
          </p:cNvPr>
          <p:cNvSpPr/>
          <p:nvPr/>
        </p:nvSpPr>
        <p:spPr>
          <a:xfrm rot="5400000">
            <a:off x="7504549" y="3682259"/>
            <a:ext cx="216367" cy="92729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0069D-BDC0-9F4F-B9AC-6E7B8D943BF7}"/>
              </a:ext>
            </a:extLst>
          </p:cNvPr>
          <p:cNvSpPr/>
          <p:nvPr/>
        </p:nvSpPr>
        <p:spPr>
          <a:xfrm>
            <a:off x="1997345" y="848852"/>
            <a:ext cx="136447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err="1">
                <a:latin typeface="Helvetica" pitchFamily="2" charset="0"/>
              </a:rPr>
              <a:t>visualStimDuration_ms</a:t>
            </a:r>
            <a:endParaRPr lang="en-US" sz="900" dirty="0">
              <a:effectLst/>
              <a:latin typeface="Helvetica" pitchFamily="2" charset="0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2361C13-DF27-8B45-B912-76FF0C8151DF}"/>
              </a:ext>
            </a:extLst>
          </p:cNvPr>
          <p:cNvCxnSpPr>
            <a:cxnSpLocks/>
          </p:cNvCxnSpPr>
          <p:nvPr/>
        </p:nvCxnSpPr>
        <p:spPr>
          <a:xfrm>
            <a:off x="2119715" y="3344601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ight Brace 44">
            <a:extLst>
              <a:ext uri="{FF2B5EF4-FFF2-40B4-BE49-F238E27FC236}">
                <a16:creationId xmlns:a16="http://schemas.microsoft.com/office/drawing/2014/main" id="{A76EE2F2-4EE7-6248-B55F-1ACBA05CB2ED}"/>
              </a:ext>
            </a:extLst>
          </p:cNvPr>
          <p:cNvSpPr/>
          <p:nvPr/>
        </p:nvSpPr>
        <p:spPr>
          <a:xfrm rot="16200000">
            <a:off x="2150762" y="2391086"/>
            <a:ext cx="182407" cy="4991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ight Brace 139">
            <a:extLst>
              <a:ext uri="{FF2B5EF4-FFF2-40B4-BE49-F238E27FC236}">
                <a16:creationId xmlns:a16="http://schemas.microsoft.com/office/drawing/2014/main" id="{F34BE962-1EAB-524B-AB86-B7A802778AA4}"/>
              </a:ext>
            </a:extLst>
          </p:cNvPr>
          <p:cNvSpPr/>
          <p:nvPr/>
        </p:nvSpPr>
        <p:spPr>
          <a:xfrm rot="16200000">
            <a:off x="2008258" y="2999695"/>
            <a:ext cx="93259" cy="1249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526A83B-27D0-B941-8971-DAB09083D9D7}"/>
              </a:ext>
            </a:extLst>
          </p:cNvPr>
          <p:cNvSpPr txBox="1"/>
          <p:nvPr/>
        </p:nvSpPr>
        <p:spPr>
          <a:xfrm>
            <a:off x="1748937" y="2829743"/>
            <a:ext cx="987771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Spacer Visual Audio</a:t>
            </a:r>
          </a:p>
          <a:p>
            <a:pPr algn="ctr"/>
            <a:r>
              <a:rPr lang="en-US" sz="788" dirty="0"/>
              <a:t>1s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578BF4B-F4FE-7440-8102-4D5A01FB77D3}"/>
              </a:ext>
            </a:extLst>
          </p:cNvPr>
          <p:cNvCxnSpPr>
            <a:cxnSpLocks/>
          </p:cNvCxnSpPr>
          <p:nvPr/>
        </p:nvCxnSpPr>
        <p:spPr>
          <a:xfrm>
            <a:off x="3816040" y="3318370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4FDE077-912A-3545-B704-0AD4BAFF326A}"/>
              </a:ext>
            </a:extLst>
          </p:cNvPr>
          <p:cNvSpPr txBox="1"/>
          <p:nvPr/>
        </p:nvSpPr>
        <p:spPr>
          <a:xfrm>
            <a:off x="3526268" y="2189720"/>
            <a:ext cx="1016625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Visual Stim Duration</a:t>
            </a:r>
          </a:p>
          <a:p>
            <a:pPr algn="ctr"/>
            <a:r>
              <a:rPr lang="en-US" sz="788" dirty="0"/>
              <a:t>1.45s</a:t>
            </a:r>
          </a:p>
        </p:txBody>
      </p:sp>
      <p:sp>
        <p:nvSpPr>
          <p:cNvPr id="153" name="Right Brace 152">
            <a:extLst>
              <a:ext uri="{FF2B5EF4-FFF2-40B4-BE49-F238E27FC236}">
                <a16:creationId xmlns:a16="http://schemas.microsoft.com/office/drawing/2014/main" id="{DBDB867B-4944-3241-A383-F00D8E769859}"/>
              </a:ext>
            </a:extLst>
          </p:cNvPr>
          <p:cNvSpPr/>
          <p:nvPr/>
        </p:nvSpPr>
        <p:spPr>
          <a:xfrm rot="16200000">
            <a:off x="3970846" y="2209281"/>
            <a:ext cx="182407" cy="8627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ight Brace 153">
            <a:extLst>
              <a:ext uri="{FF2B5EF4-FFF2-40B4-BE49-F238E27FC236}">
                <a16:creationId xmlns:a16="http://schemas.microsoft.com/office/drawing/2014/main" id="{89578181-6293-944E-B768-495D5D986F5B}"/>
              </a:ext>
            </a:extLst>
          </p:cNvPr>
          <p:cNvSpPr/>
          <p:nvPr/>
        </p:nvSpPr>
        <p:spPr>
          <a:xfrm rot="16200000">
            <a:off x="3685654" y="2958373"/>
            <a:ext cx="87932" cy="1728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3BDF110-1405-EA44-BD41-BEA27B0CBF83}"/>
              </a:ext>
            </a:extLst>
          </p:cNvPr>
          <p:cNvSpPr txBox="1"/>
          <p:nvPr/>
        </p:nvSpPr>
        <p:spPr>
          <a:xfrm>
            <a:off x="3510362" y="2785265"/>
            <a:ext cx="987771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Spacer Visual Audio</a:t>
            </a:r>
          </a:p>
          <a:p>
            <a:pPr algn="ctr"/>
            <a:r>
              <a:rPr lang="en-US" sz="788" dirty="0"/>
              <a:t>1s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09722FF-9F47-4E49-8132-082C75895944}"/>
              </a:ext>
            </a:extLst>
          </p:cNvPr>
          <p:cNvSpPr txBox="1"/>
          <p:nvPr/>
        </p:nvSpPr>
        <p:spPr>
          <a:xfrm>
            <a:off x="4511604" y="3127025"/>
            <a:ext cx="514885" cy="456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Prompt </a:t>
            </a:r>
          </a:p>
          <a:p>
            <a:pPr algn="ctr"/>
            <a:r>
              <a:rPr lang="en-US" sz="788" dirty="0"/>
              <a:t>delay </a:t>
            </a:r>
          </a:p>
          <a:p>
            <a:pPr algn="ctr"/>
            <a:r>
              <a:rPr lang="en-US" sz="788" dirty="0"/>
              <a:t>0.5-1s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0D7BE93-D64D-8842-9DB5-B3DF5BB23CE6}"/>
              </a:ext>
            </a:extLst>
          </p:cNvPr>
          <p:cNvSpPr txBox="1"/>
          <p:nvPr/>
        </p:nvSpPr>
        <p:spPr>
          <a:xfrm>
            <a:off x="4982540" y="3091069"/>
            <a:ext cx="657616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88" dirty="0"/>
              <a:t>Response window (Variable Min = 1.5s)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337666E-AF70-244B-AF08-34DC5ADBD718}"/>
              </a:ext>
            </a:extLst>
          </p:cNvPr>
          <p:cNvCxnSpPr>
            <a:cxnSpLocks/>
          </p:cNvCxnSpPr>
          <p:nvPr/>
        </p:nvCxnSpPr>
        <p:spPr>
          <a:xfrm>
            <a:off x="5848667" y="3284469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08361CC6-6B86-CB4A-854D-5F169E34C731}"/>
              </a:ext>
            </a:extLst>
          </p:cNvPr>
          <p:cNvSpPr txBox="1"/>
          <p:nvPr/>
        </p:nvSpPr>
        <p:spPr>
          <a:xfrm>
            <a:off x="5429255" y="2224273"/>
            <a:ext cx="1016625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Visual Stim Duration</a:t>
            </a:r>
          </a:p>
          <a:p>
            <a:pPr algn="ctr"/>
            <a:r>
              <a:rPr lang="en-US" sz="788" dirty="0"/>
              <a:t>1.45s</a:t>
            </a:r>
          </a:p>
        </p:txBody>
      </p:sp>
      <p:sp>
        <p:nvSpPr>
          <p:cNvPr id="174" name="Right Brace 173">
            <a:extLst>
              <a:ext uri="{FF2B5EF4-FFF2-40B4-BE49-F238E27FC236}">
                <a16:creationId xmlns:a16="http://schemas.microsoft.com/office/drawing/2014/main" id="{607DE7B8-ABBC-B646-9971-1B3AEDF1E9D1}"/>
              </a:ext>
            </a:extLst>
          </p:cNvPr>
          <p:cNvSpPr/>
          <p:nvPr/>
        </p:nvSpPr>
        <p:spPr>
          <a:xfrm rot="16200000">
            <a:off x="5937146" y="2213031"/>
            <a:ext cx="182407" cy="83506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ight Brace 175">
            <a:extLst>
              <a:ext uri="{FF2B5EF4-FFF2-40B4-BE49-F238E27FC236}">
                <a16:creationId xmlns:a16="http://schemas.microsoft.com/office/drawing/2014/main" id="{5EF72244-8DE7-374E-BE3E-FA7B8211BD7E}"/>
              </a:ext>
            </a:extLst>
          </p:cNvPr>
          <p:cNvSpPr/>
          <p:nvPr/>
        </p:nvSpPr>
        <p:spPr>
          <a:xfrm rot="16200000">
            <a:off x="5708344" y="2905735"/>
            <a:ext cx="84351" cy="2543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E50304D-D041-ED4D-A021-1324285B8D91}"/>
              </a:ext>
            </a:extLst>
          </p:cNvPr>
          <p:cNvSpPr txBox="1"/>
          <p:nvPr/>
        </p:nvSpPr>
        <p:spPr>
          <a:xfrm>
            <a:off x="5548959" y="2765264"/>
            <a:ext cx="987771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Spacer Visual Audio</a:t>
            </a:r>
          </a:p>
          <a:p>
            <a:pPr algn="ctr"/>
            <a:r>
              <a:rPr lang="en-US" sz="788" dirty="0"/>
              <a:t>1s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22AAFD4-2AC7-2C40-B29F-20EAFF90ACCA}"/>
              </a:ext>
            </a:extLst>
          </p:cNvPr>
          <p:cNvSpPr txBox="1"/>
          <p:nvPr/>
        </p:nvSpPr>
        <p:spPr>
          <a:xfrm>
            <a:off x="3016867" y="3062109"/>
            <a:ext cx="657616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88" dirty="0"/>
              <a:t>Response window (Variable Min = 1.5s)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3188A69-171C-5648-8AF3-3210ABBC44F9}"/>
              </a:ext>
            </a:extLst>
          </p:cNvPr>
          <p:cNvSpPr txBox="1"/>
          <p:nvPr/>
        </p:nvSpPr>
        <p:spPr>
          <a:xfrm>
            <a:off x="6955113" y="1959384"/>
            <a:ext cx="657616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88" dirty="0"/>
              <a:t>Response window (Variable Min = 2s)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050D0A9-9356-4A4F-BC19-61D288231C20}"/>
              </a:ext>
            </a:extLst>
          </p:cNvPr>
          <p:cNvSpPr txBox="1"/>
          <p:nvPr/>
        </p:nvSpPr>
        <p:spPr>
          <a:xfrm>
            <a:off x="6492954" y="3169744"/>
            <a:ext cx="514885" cy="456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Prompt </a:t>
            </a:r>
          </a:p>
          <a:p>
            <a:pPr algn="ctr"/>
            <a:r>
              <a:rPr lang="en-US" sz="788" dirty="0"/>
              <a:t>delay </a:t>
            </a:r>
          </a:p>
          <a:p>
            <a:pPr algn="ctr"/>
            <a:r>
              <a:rPr lang="en-US" sz="788" dirty="0"/>
              <a:t>0.5-1s</a:t>
            </a:r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30CEA4B-D98A-6546-8324-F90B74BF02C5}"/>
              </a:ext>
            </a:extLst>
          </p:cNvPr>
          <p:cNvCxnSpPr>
            <a:cxnSpLocks/>
          </p:cNvCxnSpPr>
          <p:nvPr/>
        </p:nvCxnSpPr>
        <p:spPr>
          <a:xfrm>
            <a:off x="7163328" y="3284469"/>
            <a:ext cx="0" cy="27051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ight Brace 200">
            <a:extLst>
              <a:ext uri="{FF2B5EF4-FFF2-40B4-BE49-F238E27FC236}">
                <a16:creationId xmlns:a16="http://schemas.microsoft.com/office/drawing/2014/main" id="{E2759AC2-90E4-AA47-AF62-8DC9B0842BA3}"/>
              </a:ext>
            </a:extLst>
          </p:cNvPr>
          <p:cNvSpPr/>
          <p:nvPr/>
        </p:nvSpPr>
        <p:spPr>
          <a:xfrm rot="16200000">
            <a:off x="7221298" y="2332224"/>
            <a:ext cx="182407" cy="61125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ight Brace 201">
            <a:extLst>
              <a:ext uri="{FF2B5EF4-FFF2-40B4-BE49-F238E27FC236}">
                <a16:creationId xmlns:a16="http://schemas.microsoft.com/office/drawing/2014/main" id="{DC6238C7-9546-BB41-85F4-75010EE2E692}"/>
              </a:ext>
            </a:extLst>
          </p:cNvPr>
          <p:cNvSpPr/>
          <p:nvPr/>
        </p:nvSpPr>
        <p:spPr>
          <a:xfrm rot="16200000">
            <a:off x="7034951" y="2976249"/>
            <a:ext cx="100310" cy="1564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013E5D9-1E43-F540-BEBD-66E603785913}"/>
              </a:ext>
            </a:extLst>
          </p:cNvPr>
          <p:cNvSpPr txBox="1"/>
          <p:nvPr/>
        </p:nvSpPr>
        <p:spPr>
          <a:xfrm>
            <a:off x="6891570" y="2769792"/>
            <a:ext cx="873958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88" dirty="0"/>
              <a:t>Stop trial latency</a:t>
            </a:r>
          </a:p>
          <a:p>
            <a:pPr algn="ctr"/>
            <a:r>
              <a:rPr lang="en-US" sz="788" dirty="0"/>
              <a:t>0.2s</a:t>
            </a:r>
          </a:p>
        </p:txBody>
      </p:sp>
    </p:spTree>
    <p:extLst>
      <p:ext uri="{BB962C8B-B14F-4D97-AF65-F5344CB8AC3E}">
        <p14:creationId xmlns:p14="http://schemas.microsoft.com/office/powerpoint/2010/main" val="917250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105</Words>
  <Application>Microsoft Macintosh PowerPoint</Application>
  <PresentationFormat>On-screen Show (4:3)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Bush, Alan</dc:creator>
  <cp:lastModifiedBy>Bush, Alan</cp:lastModifiedBy>
  <cp:revision>3</cp:revision>
  <dcterms:created xsi:type="dcterms:W3CDTF">2021-04-05T17:33:01Z</dcterms:created>
  <dcterms:modified xsi:type="dcterms:W3CDTF">2021-04-05T18:06:26Z</dcterms:modified>
</cp:coreProperties>
</file>