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9144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F1D91C-84A0-4DCE-A39B-817F55F04522}">
  <a:tblStyle styleId="{D9F1D91C-84A0-4DCE-A39B-817F55F045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B7A9AED-D08F-466A-BE4C-EC08B412F3F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5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ae39abe56_0_0:notes"/>
          <p:cNvSpPr/>
          <p:nvPr>
            <p:ph idx="2" type="sldImg"/>
          </p:nvPr>
        </p:nvSpPr>
        <p:spPr>
          <a:xfrm>
            <a:off x="1714815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ae39abe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899d3adf8_0_0:notes"/>
          <p:cNvSpPr/>
          <p:nvPr>
            <p:ph idx="2" type="sldImg"/>
          </p:nvPr>
        </p:nvSpPr>
        <p:spPr>
          <a:xfrm>
            <a:off x="1714815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899d3ad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-no consecutive stop trials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-do not repeat same syllable on consecutive trials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-don’t start block with stop trial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 2-3 min between blocks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1323689"/>
            <a:ext cx="85206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5038444"/>
            <a:ext cx="85206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3823733"/>
            <a:ext cx="8520600" cy="14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2048844"/>
            <a:ext cx="39999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2048844"/>
            <a:ext cx="39999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987733"/>
            <a:ext cx="2808000" cy="13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2470400"/>
            <a:ext cx="2808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800267"/>
            <a:ext cx="6367800" cy="72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222"/>
            <a:ext cx="4572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2192311"/>
            <a:ext cx="40452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4983244"/>
            <a:ext cx="40452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1287244"/>
            <a:ext cx="3837000" cy="65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7521022"/>
            <a:ext cx="59988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966444"/>
            <a:ext cx="8520600" cy="34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5603956"/>
            <a:ext cx="8520600" cy="23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8290163"/>
            <a:ext cx="5487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43975"/>
            <a:ext cx="8015400" cy="8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SEQ-DBS </a:t>
            </a:r>
            <a:r>
              <a:rPr lang="en" sz="2500">
                <a:solidFill>
                  <a:srgbClr val="000000"/>
                </a:solidFill>
              </a:rPr>
              <a:t>Experimental Phases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Each </a:t>
            </a:r>
            <a:r>
              <a:rPr lang="en" sz="2000">
                <a:solidFill>
                  <a:srgbClr val="000000"/>
                </a:solidFill>
              </a:rPr>
              <a:t>subject</a:t>
            </a:r>
            <a:r>
              <a:rPr lang="en" sz="2000">
                <a:solidFill>
                  <a:srgbClr val="000000"/>
                </a:solidFill>
              </a:rPr>
              <a:t> will be assigned to a group from 1-5, which will determine which 1 out of the 5 non-native sets will be learned. The example in the following figure is of a subject assigned to group 3. All experimental epochs except </a:t>
            </a:r>
            <a:r>
              <a:rPr lang="en" sz="2000">
                <a:solidFill>
                  <a:srgbClr val="000000"/>
                </a:solidFill>
              </a:rPr>
              <a:t>Familiarization </a:t>
            </a:r>
            <a:r>
              <a:rPr lang="en" sz="2000">
                <a:solidFill>
                  <a:srgbClr val="000000"/>
                </a:solidFill>
              </a:rPr>
              <a:t>will be divided up into 5-minute blocks, each containing 48 trials. Trials within each 5-minute block will be presented in randomized order. 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Familiarization </a:t>
            </a:r>
            <a:r>
              <a:rPr lang="en" sz="2000">
                <a:solidFill>
                  <a:srgbClr val="000000"/>
                </a:solidFill>
              </a:rPr>
              <a:t>phase will be conducted </a:t>
            </a:r>
            <a:r>
              <a:rPr lang="en" sz="2000">
                <a:solidFill>
                  <a:srgbClr val="000000"/>
                </a:solidFill>
              </a:rPr>
              <a:t>(remotely) immediately before the Training 1 phase. This phase is a brief (2-minute) </a:t>
            </a:r>
            <a:r>
              <a:rPr lang="en" sz="2000">
                <a:solidFill>
                  <a:srgbClr val="000000"/>
                </a:solidFill>
              </a:rPr>
              <a:t>introduction</a:t>
            </a:r>
            <a:r>
              <a:rPr lang="en" sz="2000">
                <a:solidFill>
                  <a:srgbClr val="000000"/>
                </a:solidFill>
              </a:rPr>
              <a:t> to the task, to give the </a:t>
            </a:r>
            <a:r>
              <a:rPr lang="en" sz="2000">
                <a:solidFill>
                  <a:srgbClr val="000000"/>
                </a:solidFill>
              </a:rPr>
              <a:t>subject</a:t>
            </a:r>
            <a:r>
              <a:rPr lang="en" sz="2000">
                <a:solidFill>
                  <a:srgbClr val="000000"/>
                </a:solidFill>
              </a:rPr>
              <a:t> a minimal level of proficiency before beginning the Training 1 phase. Familiarization will contain the following stimuli, which are not repeated in any subsequent phase: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each of syllables from native set #1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each of the syllables from the non-native set preceding the non-native learned set (ex: if non-native set #3 is learned, then non-native set #2 will be used in familiarization)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-4 STOP (native set #1) trials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Training 1</a:t>
            </a:r>
            <a:r>
              <a:rPr lang="en" sz="2000">
                <a:solidFill>
                  <a:srgbClr val="000000"/>
                </a:solidFill>
              </a:rPr>
              <a:t> phase [50 minutes</a:t>
            </a:r>
            <a:r>
              <a:rPr lang="en" sz="2000">
                <a:solidFill>
                  <a:srgbClr val="000000"/>
                </a:solidFill>
              </a:rPr>
              <a:t>, not including breaks</a:t>
            </a:r>
            <a:r>
              <a:rPr lang="en" sz="2000">
                <a:solidFill>
                  <a:srgbClr val="000000"/>
                </a:solidFill>
              </a:rPr>
              <a:t>] will be conducted remotely. It will consist of 10 blocks, with each block containing: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each of the 12 syllables from native sets #2, #3, and #4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-6 </a:t>
            </a:r>
            <a:r>
              <a:rPr lang="en" sz="2000">
                <a:solidFill>
                  <a:srgbClr val="000000"/>
                </a:solidFill>
              </a:rPr>
              <a:t>repetitions each of the 4 syllables from the non-native set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-12 STOP trials (4 native and 8 non-native learned)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Training 2</a:t>
            </a:r>
            <a:r>
              <a:rPr b="1" i="1" lang="en" sz="2000">
                <a:solidFill>
                  <a:srgbClr val="000000"/>
                </a:solidFill>
              </a:rPr>
              <a:t> </a:t>
            </a:r>
            <a:r>
              <a:rPr lang="en" sz="2000">
                <a:solidFill>
                  <a:srgbClr val="000000"/>
                </a:solidFill>
              </a:rPr>
              <a:t>phase [10 minutes] will be conducted in person, on the morning of the surgery. It will consist of 2 blocks, with each block containing the same trials as were used in the Training 1 phase blocks.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Testing</a:t>
            </a:r>
            <a:r>
              <a:rPr b="1" i="1" lang="en" sz="2000">
                <a:solidFill>
                  <a:srgbClr val="000000"/>
                </a:solidFill>
              </a:rPr>
              <a:t> </a:t>
            </a:r>
            <a:r>
              <a:rPr lang="en" sz="2000">
                <a:solidFill>
                  <a:srgbClr val="000000"/>
                </a:solidFill>
              </a:rPr>
              <a:t>phase [15 minutes] will be conducted during surgery. It will consist of 3 blocks, with each block containing: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each of 12 syllables from native sets #5, #6, and #7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each of 12 syllables from the 3 non-native novel sets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-3 repetitions each of the 4 syllables from the non-native learned set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-12 STOP trials (4 native, 4 non-native learned, and 4 non-native novel)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4437600" y="7525700"/>
            <a:ext cx="2700000" cy="154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7882425" y="1240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{D9F1D91C-84A0-4DCE-A39B-817F55F04522}</a:tableStyleId>
              </a:tblPr>
              <a:tblGrid>
                <a:gridCol w="257150"/>
                <a:gridCol w="816625"/>
              </a:tblGrid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1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ZDAT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1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FP</a:t>
                      </a:r>
                      <a:r>
                        <a:rPr b="1" i="1" lang="en" sz="1500"/>
                        <a:t>IG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1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GVUD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1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PTEK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2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VZ</a:t>
                      </a:r>
                      <a:r>
                        <a:rPr b="1" i="1" lang="en" sz="1500"/>
                        <a:t>AT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2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SHF</a:t>
                      </a:r>
                      <a:r>
                        <a:rPr b="1" i="1" lang="en" sz="1500"/>
                        <a:t>IG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2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KPUD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2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ZL</a:t>
                      </a:r>
                      <a:r>
                        <a:rPr b="1" i="1" lang="en" sz="1500"/>
                        <a:t>EK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3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PKAT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3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KSHIG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69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3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ZGUD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3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DZEK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4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DGAT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4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ZBIG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4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SHKUD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4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FSHEK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5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KFAT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5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DLIG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5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PSHUD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5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BDEK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Google Shape;61;p14"/>
          <p:cNvGraphicFramePr/>
          <p:nvPr/>
        </p:nvGraphicFramePr>
        <p:xfrm>
          <a:off x="6094825" y="12151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{D9F1D91C-84A0-4DCE-A39B-817F55F04522}</a:tableStyleId>
              </a:tblPr>
              <a:tblGrid>
                <a:gridCol w="289300"/>
                <a:gridCol w="873950"/>
              </a:tblGrid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5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BLAT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5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DRIG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</a:t>
                      </a:r>
                      <a:endParaRPr b="1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GRUD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5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SLEK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6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GLAT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SKIG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TRUD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FREK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THRAT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FLIG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KLUD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PREK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Google Shape;62;p14"/>
          <p:cNvGraphicFramePr/>
          <p:nvPr/>
        </p:nvGraphicFramePr>
        <p:xfrm>
          <a:off x="4741925" y="12151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{D9F1D91C-84A0-4DCE-A39B-817F55F04522}</a:tableStyleId>
              </a:tblPr>
              <a:tblGrid>
                <a:gridCol w="257150"/>
                <a:gridCol w="906100"/>
              </a:tblGrid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1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BLID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DRET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GLUK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1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PRAD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6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GRIK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SLAD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TREG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FRUT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THRIK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SHRUD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KLAG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FLET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SKET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KRAD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PLIK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BRUG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63" name="Google Shape;63;p14"/>
          <p:cNvSpPr txBox="1"/>
          <p:nvPr>
            <p:ph type="title"/>
          </p:nvPr>
        </p:nvSpPr>
        <p:spPr>
          <a:xfrm>
            <a:off x="4885325" y="740525"/>
            <a:ext cx="21150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Native Syllables</a:t>
            </a:r>
            <a:endParaRPr sz="1820"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7677550" y="511933"/>
            <a:ext cx="14112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1820"/>
              <a:t>Non-Native</a:t>
            </a:r>
            <a:endParaRPr i="1" sz="1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1820"/>
              <a:t>Syllables</a:t>
            </a:r>
            <a:endParaRPr i="1" sz="1820"/>
          </a:p>
        </p:txBody>
      </p:sp>
      <p:graphicFrame>
        <p:nvGraphicFramePr>
          <p:cNvPr id="65" name="Google Shape;65;p14"/>
          <p:cNvGraphicFramePr/>
          <p:nvPr/>
        </p:nvGraphicFramePr>
        <p:xfrm>
          <a:off x="45288" y="68387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{1B7A9AED-D08F-466A-BE4C-EC08B412F3FE}</a:tableStyleId>
              </a:tblPr>
              <a:tblGrid>
                <a:gridCol w="1229300"/>
                <a:gridCol w="1253200"/>
                <a:gridCol w="1638600"/>
              </a:tblGrid>
              <a:tr h="46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Native 5</a:t>
                      </a:r>
                      <a:endParaRPr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Native 6</a:t>
                      </a:r>
                      <a:endParaRPr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Native 7</a:t>
                      </a:r>
                      <a:endParaRPr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</a:tr>
              <a:tr h="46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/>
                        <a:t>Non-Native 1</a:t>
                      </a:r>
                      <a:endParaRPr i="1"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4</a:t>
                      </a:r>
                      <a:endParaRPr i="1"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5</a:t>
                      </a:r>
                      <a:endParaRPr i="1"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</a:tr>
              <a:tr h="46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/>
                        <a:t>Non-Native </a:t>
                      </a:r>
                      <a:r>
                        <a:rPr i="1" lang="en"/>
                        <a:t>3</a:t>
                      </a:r>
                      <a:endParaRPr i="1" sz="1400"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i="1" sz="1400"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i="1" sz="1400"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</a:tr>
              <a:tr h="64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STOP x 4 (Native 5/6/7)</a:t>
                      </a:r>
                      <a:endParaRPr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STOP x 4 (Non-Native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)</a:t>
                      </a:r>
                      <a:endParaRPr i="1" sz="1400"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STOP x 4 </a:t>
                      </a:r>
                      <a:br>
                        <a:rPr i="1" lang="en" sz="1400">
                          <a:solidFill>
                            <a:schemeClr val="dk1"/>
                          </a:solidFill>
                        </a:rPr>
                      </a:b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(Non-native 1/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/5)</a:t>
                      </a:r>
                      <a:endParaRPr i="1" sz="1400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6" name="Google Shape;66;p14"/>
          <p:cNvSpPr txBox="1"/>
          <p:nvPr>
            <p:ph type="title"/>
          </p:nvPr>
        </p:nvSpPr>
        <p:spPr>
          <a:xfrm>
            <a:off x="45300" y="6236725"/>
            <a:ext cx="3862200" cy="46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IV. </a:t>
            </a:r>
            <a:r>
              <a:rPr b="1" lang="en" sz="1620" u="sng"/>
              <a:t>Testing</a:t>
            </a:r>
            <a:r>
              <a:rPr lang="en" sz="1620"/>
              <a:t> </a:t>
            </a:r>
            <a:r>
              <a:rPr lang="en" sz="1520"/>
              <a:t>(15min)… 3 x 5min blocks of:</a:t>
            </a:r>
            <a:endParaRPr sz="1520"/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45300" y="5215175"/>
            <a:ext cx="42198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III. Training 2</a:t>
            </a:r>
            <a:r>
              <a:rPr lang="en" sz="1520"/>
              <a:t> on surgery morning (10min)...</a:t>
            </a:r>
            <a:endParaRPr sz="152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2 x 5min blocks [same block as Training 1]</a:t>
            </a:r>
            <a:endParaRPr sz="1520"/>
          </a:p>
        </p:txBody>
      </p:sp>
      <p:cxnSp>
        <p:nvCxnSpPr>
          <p:cNvPr id="68" name="Google Shape;68;p14"/>
          <p:cNvCxnSpPr/>
          <p:nvPr/>
        </p:nvCxnSpPr>
        <p:spPr>
          <a:xfrm flipH="1">
            <a:off x="4361175" y="168300"/>
            <a:ext cx="6900" cy="896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 txBox="1"/>
          <p:nvPr>
            <p:ph type="title"/>
          </p:nvPr>
        </p:nvSpPr>
        <p:spPr>
          <a:xfrm>
            <a:off x="-259500" y="0"/>
            <a:ext cx="46971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 u="sng"/>
              <a:t>Experiment Phases</a:t>
            </a:r>
            <a:endParaRPr sz="232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(1 cell = 4 trials)</a:t>
            </a:r>
            <a:endParaRPr sz="1520"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5400" y="2285222"/>
            <a:ext cx="42198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II. </a:t>
            </a:r>
            <a:r>
              <a:rPr b="1" lang="en" sz="1620" u="sng"/>
              <a:t>Training 1</a:t>
            </a:r>
            <a:r>
              <a:rPr lang="en" sz="1520"/>
              <a:t> </a:t>
            </a:r>
            <a:r>
              <a:rPr lang="en" sz="1520"/>
              <a:t>over Zoom</a:t>
            </a:r>
            <a:r>
              <a:rPr lang="en" sz="1520"/>
              <a:t> (&gt;50min)... </a:t>
            </a:r>
            <a:endParaRPr sz="152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10 x 5min blocks of:</a:t>
            </a:r>
            <a:endParaRPr sz="1520"/>
          </a:p>
        </p:txBody>
      </p:sp>
      <p:graphicFrame>
        <p:nvGraphicFramePr>
          <p:cNvPr id="71" name="Google Shape;71;p14"/>
          <p:cNvGraphicFramePr/>
          <p:nvPr/>
        </p:nvGraphicFramePr>
        <p:xfrm>
          <a:off x="146050" y="29614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{1B7A9AED-D08F-466A-BE4C-EC08B412F3FE}</a:tableStyleId>
              </a:tblPr>
              <a:tblGrid>
                <a:gridCol w="1311125"/>
                <a:gridCol w="1311125"/>
                <a:gridCol w="1311125"/>
              </a:tblGrid>
              <a:tr h="34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Native </a:t>
                      </a:r>
                      <a:r>
                        <a:rPr lang="en"/>
                        <a:t>2</a:t>
                      </a:r>
                      <a:endParaRPr sz="14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Native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Native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6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/>
                        <a:t>Non-Native </a:t>
                      </a:r>
                      <a:r>
                        <a:rPr i="1" lang="en"/>
                        <a:t>3</a:t>
                      </a:r>
                      <a:endParaRPr i="1" sz="1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i="1" sz="1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i="1" sz="1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</a:tr>
              <a:tr h="36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/>
                        <a:t>Non-Native </a:t>
                      </a:r>
                      <a:r>
                        <a:rPr i="1" lang="en"/>
                        <a:t>3</a:t>
                      </a:r>
                      <a:endParaRPr i="1"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i="1" sz="1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i="1" sz="1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STOP X 4 (Native </a:t>
                      </a:r>
                      <a:r>
                        <a:rPr lang="en"/>
                        <a:t>2</a:t>
                      </a:r>
                      <a:r>
                        <a:rPr lang="en" sz="1400"/>
                        <a:t>/</a:t>
                      </a:r>
                      <a:r>
                        <a:rPr lang="en"/>
                        <a:t>3</a:t>
                      </a:r>
                      <a:r>
                        <a:rPr lang="en" sz="1400"/>
                        <a:t>/</a:t>
                      </a:r>
                      <a:r>
                        <a:rPr lang="en"/>
                        <a:t>4</a:t>
                      </a:r>
                      <a:r>
                        <a:rPr lang="en" sz="1400"/>
                        <a:t>)</a:t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STOP X 4 (Non-native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)</a:t>
                      </a:r>
                      <a:endParaRPr i="1" sz="1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STOP X 4 (Non-native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" sz="1400">
                          <a:solidFill>
                            <a:schemeClr val="dk1"/>
                          </a:solidFill>
                        </a:rPr>
                        <a:t>)</a:t>
                      </a:r>
                      <a:endParaRPr i="1" sz="1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>
            <p:ph type="title"/>
          </p:nvPr>
        </p:nvSpPr>
        <p:spPr>
          <a:xfrm>
            <a:off x="28650" y="838209"/>
            <a:ext cx="42198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I. </a:t>
            </a:r>
            <a:r>
              <a:rPr b="1" lang="en" sz="1620" u="sng"/>
              <a:t>Familiarization</a:t>
            </a:r>
            <a:r>
              <a:rPr lang="en" sz="1620"/>
              <a:t> </a:t>
            </a:r>
            <a:r>
              <a:rPr lang="en" sz="1520"/>
              <a:t>over Zoom.. 1 x 2min:</a:t>
            </a:r>
            <a:endParaRPr sz="1520"/>
          </a:p>
        </p:txBody>
      </p:sp>
      <p:cxnSp>
        <p:nvCxnSpPr>
          <p:cNvPr id="73" name="Google Shape;73;p14"/>
          <p:cNvCxnSpPr/>
          <p:nvPr/>
        </p:nvCxnSpPr>
        <p:spPr>
          <a:xfrm rot="5400000">
            <a:off x="2139600" y="4025484"/>
            <a:ext cx="11400" cy="42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rot="5400000">
            <a:off x="2139600" y="2928672"/>
            <a:ext cx="11400" cy="42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 rot="5400000">
            <a:off x="2209050" y="-21753"/>
            <a:ext cx="11400" cy="42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76" name="Google Shape;76;p14"/>
          <p:cNvGraphicFramePr/>
          <p:nvPr/>
        </p:nvGraphicFramePr>
        <p:xfrm>
          <a:off x="146050" y="12751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{1B7A9AED-D08F-466A-BE4C-EC08B412F3FE}</a:tableStyleId>
              </a:tblPr>
              <a:tblGrid>
                <a:gridCol w="1311125"/>
                <a:gridCol w="1311125"/>
                <a:gridCol w="1311125"/>
              </a:tblGrid>
              <a:tr h="59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Native </a:t>
                      </a:r>
                      <a:r>
                        <a:rPr lang="en"/>
                        <a:t>1</a:t>
                      </a:r>
                      <a:endParaRPr sz="14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Non-Native  2</a:t>
                      </a:r>
                      <a:endParaRPr i="1" sz="14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STOP x 4 (Native 1)</a:t>
                      </a:r>
                      <a:endParaRPr sz="14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Google Shape;77;p14"/>
          <p:cNvGraphicFramePr/>
          <p:nvPr/>
        </p:nvGraphicFramePr>
        <p:xfrm>
          <a:off x="4469013" y="75983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{D9F1D91C-84A0-4DCE-A39B-817F55F04522}</a:tableStyleId>
              </a:tblPr>
              <a:tblGrid>
                <a:gridCol w="593325"/>
                <a:gridCol w="2009025"/>
              </a:tblGrid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Key:</a:t>
                      </a:r>
                      <a:endParaRPr b="1" sz="18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Familiarization only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Training only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Testing only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Training and testing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</a:tbl>
          </a:graphicData>
        </a:graphic>
      </p:graphicFrame>
      <p:sp>
        <p:nvSpPr>
          <p:cNvPr id="78" name="Google Shape;78;p14"/>
          <p:cNvSpPr txBox="1"/>
          <p:nvPr>
            <p:ph type="title"/>
          </p:nvPr>
        </p:nvSpPr>
        <p:spPr>
          <a:xfrm>
            <a:off x="4501200" y="0"/>
            <a:ext cx="46971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 u="sng"/>
              <a:t>Stimuli</a:t>
            </a:r>
            <a:endParaRPr sz="2320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